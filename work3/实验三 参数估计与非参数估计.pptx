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45"/>
    <p:restoredTop sz="94722"/>
  </p:normalViewPr>
  <p:slideViewPr>
    <p:cSldViewPr snapToGrid="0">
      <p:cViewPr varScale="1">
        <p:scale>
          <a:sx n="112" d="100"/>
          <a:sy n="112" d="100"/>
        </p:scale>
        <p:origin x="23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7D8F-ADED-9F4B-8FF6-1F9410CC26E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1F75C-A345-244B-93E9-67F954E565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906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如何去分类两个数据：拟合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分类指标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先验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1F75C-A345-244B-93E9-67F954E565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82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441FF-F92F-B4ED-90F4-56FB023D2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4C230F-EE0A-EEE7-E749-60B921328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349A5D-EDAE-40F9-302F-C862CED59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F625EE-C6D7-8687-F478-3019E7A60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246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148E-2C58-C92B-F2D2-3B8ED766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6D16E3-9AD9-DF04-0753-B2536AF2F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DCF6BF-6278-581D-58FD-D00A4D214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DDAF3-D316-5001-6E8A-224710DCA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87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238D-4064-DE56-5A8E-AA35E0CE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8F965-6541-6F39-0120-E5CDE44E7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8B302B-4C8F-5297-4B12-2D31E45A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FC394F-1953-0C8B-EFD8-D9D7BE0C5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0062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FAAA-1E48-06B0-D04A-6A37519A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59D00-2A05-64DD-4FB1-AD040433A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223A1F-AE94-E5F8-A9B4-8ED541CA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17758E-848A-76B1-5182-ACB654352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1680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9610-3E4C-EC2C-C767-C539F1AF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40BEFF-C046-444F-AEB6-0E8CC7E7C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FD6A7C-910A-AC3F-A4F0-6E69DA253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998E84-786F-5C6C-5D7A-7A7E6E03F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1941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30A6-266A-A144-2ABB-83E06226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D701F1-B6BC-A328-E358-5F7A47F3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6C34AC-83AC-3ABF-FC8F-12E75A6FD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3518CB-536E-82C0-42A0-C63141C8A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B2E01-8071-4D4A-9979-7271A7A67A1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178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AF9AE-88B5-4EED-895B-C2B15B8F1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D74177-8D00-EB3E-CAC3-8664D0C0E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7F525C-5120-10EE-A904-C37F330C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B78D3-77FD-7747-BDCE-4C163A6B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E6DD5-E256-81B3-D7B4-D8B46268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771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65900-CE88-A4F0-E2B7-149D7069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7321C-D0E4-5C45-B085-B3911AC5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2ACFB-1100-AABA-E665-0B10EA5A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1DECE-A788-9AB8-76D5-FAC940D1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11C22-9495-F182-D867-3941123A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1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69318-DE3C-2594-0B56-7A4BCCD8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59EF2-C4F4-4B50-E312-0141BCC3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6CFFEC-484B-84C4-84D6-471499E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091E1-4752-73E8-848D-12B3830C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BA788C-ACC8-4D97-2433-5E96C483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680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384C9-BCFF-08DD-B5EC-7E096546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65030-837A-E955-C30B-BB15733FE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B32230-FD46-9DD4-135D-636E078E7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0CF798-8C0C-6E44-F2D1-BA8CA1E2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4AFB50-EC37-2FC5-867E-AF3EFF57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CB6262-9DF1-0B70-2C8C-7D0C40E1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100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ED949-296D-3DA1-A73A-84B90981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EAF868-2001-CCE7-0B78-D84C35944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BD1578-8A45-B2D5-8CFE-A38F72CF9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3C3292-0BFB-2F9D-73CC-7F06673CA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1F3BBF-3CF9-35C7-B1B8-1CA082C10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029568-151D-89F6-402E-3E17ED4D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958CA1-2AE7-5485-0C89-B8D2DF0A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EEACBD-0F9B-E3C1-193A-E9BEB1F0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996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CCCB2-B939-B67C-18E3-2D835594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B08621-19B1-68A5-7481-0EFF790E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F3BD77-9ADB-7A38-9C80-47F8EB0B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EA4B1F-EDC5-35D8-7815-B25A308F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597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47B5E1-011D-F5A8-539F-1B7F776A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6FABF6-105A-4C26-E3C0-D28E4BCA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75FDE1-AB48-D720-72EB-820E21C5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051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1E90D-53DD-B3E7-750E-DDAAD0B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4AA71-CFF0-E3B6-2D57-F0B3C6048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B1988F-1CBD-11B3-633D-97DA13ED1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368820-BB73-3824-46AB-44DF2460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944363-D4A9-6F5B-F616-E3ADA069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90379C-2137-1FED-CDA6-05534D1C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29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07D31-32BC-9CE2-F300-2EA274B4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B79CDD-3C35-DAB9-39AC-165EF2AA9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938A9F-48E2-3FA4-E362-37E5471CA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2556F5-A2C1-906E-DCD0-77B999AF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8C03E6-AE2D-68CB-25F4-96D593D9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4D656C-F79F-B51D-D81F-C4930BF1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5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94FE2-142F-EEBC-AEE4-53F00B67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972F85-58D1-D6D1-1D63-E291979C8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30CE7B-BE84-4969-09C3-9535F44D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A7C75-6699-9772-B2AD-D2D81B0F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83DCC-1133-FFD0-DEC9-C210A3C3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229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3F1E1B-E543-ADB2-5DA1-1E2879C61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6C7C29-EB02-2A75-7DE1-3F98C7CC4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FF6C1-8AA9-DEE8-F794-E1DDC4D2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742B4-3C2D-FF07-FC4C-15AD7061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910C5D-3D5C-C8B0-1387-CFB1AA05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806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CB55A5-3ADE-0098-D6A7-DCC2F2B5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164A3-4902-E005-6402-40BE2F8BA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A6FE9-7899-919F-FF37-59100526E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DD4E-2617-6849-8189-CBC5F686A141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05857-F8DC-A8BD-B2CD-7E9E0A0F0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A276C-BBAF-F482-7B83-72E2BAF6E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72714-50FE-CA43-A9EF-E4EE306118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327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BD779-E565-D31F-1F85-312DA2B7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分类问题：参数估计与非参数估计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1ACD075-99AF-E176-95E5-10AB26DE3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2212893"/>
            <a:ext cx="5077127" cy="38177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DE5D810-6127-54EE-FBD6-8F99F80E0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35649"/>
            <a:ext cx="5077127" cy="384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3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3007-5454-CA9C-3940-1358936C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3828A702-0FBA-9C14-9FF3-B8F9A723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76314"/>
            <a:ext cx="10006361" cy="672984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4000" dirty="0"/>
              <a:t>似然率测试规则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EF5596-87FA-9568-DA9A-15278D46F8B1}"/>
              </a:ext>
            </a:extLst>
          </p:cNvPr>
          <p:cNvSpPr txBox="1"/>
          <p:nvPr/>
        </p:nvSpPr>
        <p:spPr>
          <a:xfrm>
            <a:off x="1523998" y="2011680"/>
            <a:ext cx="8522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目标</a:t>
            </a:r>
            <a:r>
              <a:rPr lang="zh-CN" altLang="en-US" dirty="0"/>
              <a:t>：做决策 </a:t>
            </a:r>
            <a:r>
              <a:rPr lang="zh-CN" altLang="en" dirty="0"/>
              <a:t>，</a:t>
            </a:r>
            <a:r>
              <a:rPr lang="zh-CN" altLang="en-US" dirty="0"/>
              <a:t>即在两个“假设”中选一个（比如 </a:t>
            </a:r>
            <a:r>
              <a:rPr lang="en" altLang="zh-CN" dirty="0"/>
              <a:t>C0 </a:t>
            </a:r>
            <a:r>
              <a:rPr lang="zh-CN" altLang="en-US" dirty="0"/>
              <a:t>还是 </a:t>
            </a:r>
            <a:r>
              <a:rPr lang="en" altLang="zh-CN" dirty="0"/>
              <a:t>C1</a:t>
            </a:r>
            <a:r>
              <a:rPr lang="zh-CN" altLang="en" dirty="0"/>
              <a:t>）。</a:t>
            </a:r>
          </a:p>
          <a:p>
            <a:r>
              <a:rPr lang="zh-CN" altLang="en-US" dirty="0"/>
              <a:t>问题：“我刚收到了一个新数据点 </a:t>
            </a:r>
            <a:r>
              <a:rPr lang="en-US" altLang="zh-CN" dirty="0"/>
              <a:t>X</a:t>
            </a:r>
            <a:r>
              <a:rPr lang="zh-CN" altLang="en" dirty="0"/>
              <a:t>，</a:t>
            </a:r>
            <a:r>
              <a:rPr lang="zh-CN" altLang="en-US" dirty="0"/>
              <a:t>这个 </a:t>
            </a:r>
            <a:r>
              <a:rPr lang="en-US" altLang="zh-CN" dirty="0"/>
              <a:t>X</a:t>
            </a:r>
            <a:r>
              <a:rPr lang="zh-CN" altLang="en-US" dirty="0"/>
              <a:t>是由 </a:t>
            </a:r>
            <a:r>
              <a:rPr lang="en" altLang="zh-CN" dirty="0"/>
              <a:t>C0</a:t>
            </a:r>
            <a:r>
              <a:rPr lang="zh-CN" altLang="en-US" dirty="0"/>
              <a:t>生成的，还是由 </a:t>
            </a:r>
            <a:r>
              <a:rPr lang="en" altLang="zh-CN" dirty="0"/>
              <a:t>C1</a:t>
            </a:r>
            <a:r>
              <a:rPr lang="zh-CN" altLang="en-US" dirty="0"/>
              <a:t>生成的？”</a:t>
            </a:r>
          </a:p>
          <a:p>
            <a:r>
              <a:rPr lang="zh-CN" altLang="en-US" b="1" dirty="0"/>
              <a:t>输出</a:t>
            </a:r>
            <a:r>
              <a:rPr lang="zh-CN" altLang="en-US" dirty="0"/>
              <a:t>：类别</a:t>
            </a:r>
            <a:endParaRPr lang="zh-CN" altLang="en" dirty="0"/>
          </a:p>
          <a:p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4A7CCA-B0E2-451A-B77E-0E82B3954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776" y="3429000"/>
            <a:ext cx="3009900" cy="11049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6AFE16-16EA-6040-7D7D-E27776837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922" y="3489008"/>
            <a:ext cx="4749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7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C11F-5BC6-8D28-B578-5C5DD214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607A8AC9-8668-B83E-3F1F-915FA57E2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0130"/>
            <a:ext cx="10486769" cy="929168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b="0" i="0" dirty="0">
                <a:solidFill>
                  <a:srgbClr val="191B1F"/>
                </a:solidFill>
                <a:effectLst/>
                <a:latin typeface="-apple-system"/>
              </a:rPr>
              <a:t>最大后验概率估计（</a:t>
            </a:r>
            <a:r>
              <a:rPr lang="en" altLang="zh-CN" sz="4000" b="0" i="0" dirty="0">
                <a:solidFill>
                  <a:srgbClr val="191B1F"/>
                </a:solidFill>
                <a:effectLst/>
                <a:latin typeface="-apple-system"/>
              </a:rPr>
              <a:t>MAP</a:t>
            </a:r>
            <a:r>
              <a:rPr lang="zh-CN" altLang="en" sz="4000" b="0" i="0" dirty="0">
                <a:solidFill>
                  <a:srgbClr val="191B1F"/>
                </a:solidFill>
                <a:effectLst/>
                <a:latin typeface="-apple-system"/>
              </a:rPr>
              <a:t>）</a:t>
            </a:r>
            <a:endParaRPr kumimoji="1"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A5F498-7769-5B22-EE29-4EA722FAAB72}"/>
              </a:ext>
            </a:extLst>
          </p:cNvPr>
          <p:cNvSpPr txBox="1"/>
          <p:nvPr/>
        </p:nvSpPr>
        <p:spPr>
          <a:xfrm>
            <a:off x="1482088" y="1791928"/>
            <a:ext cx="104867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effectLst/>
                <a:latin typeface="Google Sans Text"/>
              </a:rPr>
              <a:t>目标</a:t>
            </a:r>
            <a:r>
              <a:rPr lang="zh-CN" altLang="en-US" dirty="0">
                <a:effectLst/>
                <a:latin typeface="Google Sans Text"/>
              </a:rPr>
              <a:t>：做决策 在 </a:t>
            </a:r>
            <a:r>
              <a:rPr lang="en" altLang="zh-CN" dirty="0">
                <a:effectLst/>
                <a:latin typeface="Google Sans Text"/>
              </a:rPr>
              <a:t>C0 </a:t>
            </a:r>
            <a:r>
              <a:rPr lang="zh-CN" altLang="en-US" dirty="0">
                <a:effectLst/>
                <a:latin typeface="Google Sans Text"/>
              </a:rPr>
              <a:t>和 </a:t>
            </a:r>
            <a:r>
              <a:rPr lang="en" altLang="zh-CN" dirty="0">
                <a:effectLst/>
                <a:latin typeface="Google Sans Text"/>
              </a:rPr>
              <a:t>C1 </a:t>
            </a:r>
            <a:r>
              <a:rPr lang="zh-CN" altLang="en-US" dirty="0">
                <a:effectLst/>
                <a:latin typeface="Google Sans Text"/>
              </a:rPr>
              <a:t>中选一个。</a:t>
            </a:r>
          </a:p>
          <a:p>
            <a:pPr>
              <a:buNone/>
            </a:pPr>
            <a:r>
              <a:rPr lang="zh-CN" altLang="en-US" dirty="0">
                <a:effectLst/>
                <a:latin typeface="Google Sans Text"/>
              </a:rPr>
              <a:t>问题：</a:t>
            </a:r>
          </a:p>
          <a:p>
            <a:pPr>
              <a:buNone/>
            </a:pPr>
            <a:r>
              <a:rPr lang="zh-CN" altLang="en-US" dirty="0">
                <a:effectLst/>
                <a:latin typeface="Google Sans Text"/>
              </a:rPr>
              <a:t>“我收到了一个新数据点 </a:t>
            </a:r>
            <a:r>
              <a:rPr lang="en" altLang="zh-CN" dirty="0">
                <a:effectLst/>
                <a:latin typeface="Google Sans Text"/>
              </a:rPr>
              <a:t>X</a:t>
            </a:r>
            <a:r>
              <a:rPr lang="zh-CN" altLang="en" dirty="0">
                <a:effectLst/>
                <a:latin typeface="Google Sans Text"/>
              </a:rPr>
              <a:t>。</a:t>
            </a:r>
            <a:r>
              <a:rPr lang="zh-CN" altLang="en-US" dirty="0">
                <a:effectLst/>
                <a:latin typeface="Google Sans Text"/>
              </a:rPr>
              <a:t>根据贝叶斯定理，是</a:t>
            </a:r>
            <a:r>
              <a:rPr lang="en-US" altLang="zh-CN" dirty="0">
                <a:effectLst/>
                <a:latin typeface="Google Sans Text"/>
              </a:rPr>
              <a:t>C1</a:t>
            </a:r>
            <a:r>
              <a:rPr lang="zh-CN" altLang="en-US" dirty="0">
                <a:effectLst/>
                <a:latin typeface="Google Sans Text"/>
              </a:rPr>
              <a:t>的概率高还是</a:t>
            </a:r>
            <a:r>
              <a:rPr lang="en-US" altLang="zh-CN" dirty="0">
                <a:effectLst/>
                <a:latin typeface="Google Sans Text"/>
              </a:rPr>
              <a:t>C2</a:t>
            </a:r>
            <a:r>
              <a:rPr lang="zh-CN" altLang="en-US" dirty="0">
                <a:effectLst/>
                <a:latin typeface="Google Sans Text"/>
              </a:rPr>
              <a:t>的概率高</a:t>
            </a:r>
            <a:endParaRPr lang="en-US" altLang="zh-CN" dirty="0">
              <a:effectLst/>
              <a:latin typeface="Google Sans Text"/>
            </a:endParaRPr>
          </a:p>
          <a:p>
            <a:pPr>
              <a:buNone/>
            </a:pPr>
            <a:r>
              <a:rPr lang="zh-CN" altLang="en-US" dirty="0">
                <a:effectLst/>
                <a:latin typeface="Google Sans Text"/>
              </a:rPr>
              <a:t>一个类别（</a:t>
            </a:r>
            <a:r>
              <a:rPr lang="en" altLang="zh-CN" dirty="0">
                <a:effectLst/>
                <a:latin typeface="Google Sans Text"/>
              </a:rPr>
              <a:t>C0 </a:t>
            </a:r>
            <a:r>
              <a:rPr lang="zh-CN" altLang="en-US" dirty="0">
                <a:effectLst/>
                <a:latin typeface="Google Sans Text"/>
              </a:rPr>
              <a:t>或 </a:t>
            </a:r>
            <a:r>
              <a:rPr lang="en" altLang="zh-CN" dirty="0">
                <a:effectLst/>
                <a:latin typeface="Google Sans Text"/>
              </a:rPr>
              <a:t>C1</a:t>
            </a:r>
            <a:r>
              <a:rPr lang="zh-CN" altLang="en" dirty="0">
                <a:effectLst/>
                <a:latin typeface="Google Sans Text"/>
              </a:rPr>
              <a:t>）</a:t>
            </a:r>
            <a:endParaRPr lang="en-US" altLang="zh-CN" dirty="0">
              <a:latin typeface="Google Sans Text"/>
            </a:endParaRPr>
          </a:p>
          <a:p>
            <a:r>
              <a:rPr lang="zh-CN" altLang="en-US" dirty="0">
                <a:latin typeface="Google Sans Text"/>
              </a:rPr>
              <a:t>“规则”： 选择“后验概率” </a:t>
            </a:r>
            <a:r>
              <a:rPr lang="en" altLang="zh-CN" dirty="0">
                <a:latin typeface="Google Sans Text"/>
              </a:rPr>
              <a:t>P(Ck | X)</a:t>
            </a:r>
            <a:r>
              <a:rPr lang="zh-CN" altLang="en-US" dirty="0">
                <a:latin typeface="Google Sans Text"/>
              </a:rPr>
              <a:t>最大的类别 </a:t>
            </a:r>
            <a:r>
              <a:rPr lang="en" altLang="zh-CN" dirty="0">
                <a:latin typeface="Google Sans Text"/>
              </a:rPr>
              <a:t>Ck</a:t>
            </a:r>
            <a:r>
              <a:rPr lang="zh-CN" altLang="en" dirty="0">
                <a:latin typeface="Google Sans Text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BC9A03-5EFD-9BF6-1E89-53E80331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83" y="3711886"/>
            <a:ext cx="5067300" cy="838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F255FF-5B99-9DD2-1776-455F9FB1F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330" y="4670390"/>
            <a:ext cx="57658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6CBE-4B69-5492-6BA4-D0C486ED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FD6B21C0-34B4-36C0-3EDF-A81E3C720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0130"/>
            <a:ext cx="10486769" cy="929168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dirty="0">
                <a:solidFill>
                  <a:srgbClr val="191B1F"/>
                </a:solidFill>
                <a:latin typeface="-apple-system"/>
              </a:rPr>
              <a:t>高斯核函数</a:t>
            </a:r>
            <a:endParaRPr kumimoji="1" lang="zh-CN" altLang="en-US" sz="4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4715C5-50AD-B1C3-BB99-0085B6AFE3D7}"/>
              </a:ext>
            </a:extLst>
          </p:cNvPr>
          <p:cNvSpPr txBox="1"/>
          <p:nvPr/>
        </p:nvSpPr>
        <p:spPr>
          <a:xfrm>
            <a:off x="1628078" y="2190553"/>
            <a:ext cx="94277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LRT: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对数形式：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+LRT </a:t>
            </a:r>
            <a:r>
              <a:rPr lang="zh-CN" altLang="en-US" dirty="0"/>
              <a:t>对数形式：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688ECB-FA58-520D-5B1F-84A0606C3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69" y="2090915"/>
            <a:ext cx="4864100" cy="1066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7DC36D-1A89-4839-0463-F8321F623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988" y="4112890"/>
            <a:ext cx="5067300" cy="1244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C905428-E115-0477-C2D0-34133F68F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988" y="5470659"/>
            <a:ext cx="7277100" cy="787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83CCD25-13F2-C569-45CF-F66ED3F17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988" y="3404585"/>
            <a:ext cx="5575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5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9EF8-E3C0-0682-94D1-EAC9914A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19277EA4-9A2E-C1AA-CF92-3BBB55FB8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0130"/>
            <a:ext cx="10486769" cy="929168"/>
          </a:xfrm>
        </p:spPr>
        <p:txBody>
          <a:bodyPr>
            <a:normAutofit/>
          </a:bodyPr>
          <a:lstStyle/>
          <a:p>
            <a:pPr algn="l"/>
            <a:r>
              <a:rPr lang="en-US" altLang="zh-CN" sz="4000" dirty="0">
                <a:solidFill>
                  <a:srgbClr val="191B1F"/>
                </a:solidFill>
                <a:latin typeface="-apple-system"/>
              </a:rPr>
              <a:t>K</a:t>
            </a:r>
            <a:r>
              <a:rPr lang="zh-CN" altLang="en-US" sz="4000" dirty="0">
                <a:solidFill>
                  <a:srgbClr val="191B1F"/>
                </a:solidFill>
                <a:latin typeface="-apple-system"/>
              </a:rPr>
              <a:t>近邻</a:t>
            </a:r>
            <a:endParaRPr kumimoji="1" lang="zh-CN" altLang="en-US" sz="4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14D523-AE88-DF5E-7128-BA633BD90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089" y="2825373"/>
            <a:ext cx="3159821" cy="25828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8F794F-DD61-DCB5-109D-605155DBA434}"/>
              </a:ext>
            </a:extLst>
          </p:cNvPr>
          <p:cNvSpPr txBox="1"/>
          <p:nvPr/>
        </p:nvSpPr>
        <p:spPr>
          <a:xfrm>
            <a:off x="1628079" y="1980114"/>
            <a:ext cx="9161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少数服从多数：</a:t>
            </a:r>
            <a:r>
              <a:rPr lang="en" altLang="zh-CN" dirty="0"/>
              <a:t>K</a:t>
            </a:r>
            <a:r>
              <a:rPr lang="zh-CN" altLang="en-US" dirty="0"/>
              <a:t>近邻算法，即是给定一个训练数据集，对新的输入实例，在训练数据集中找到与该实例最邻近的</a:t>
            </a:r>
            <a:r>
              <a:rPr lang="en" altLang="zh-CN" dirty="0"/>
              <a:t>K</a:t>
            </a:r>
            <a:r>
              <a:rPr lang="zh-CN" altLang="en-US" dirty="0"/>
              <a:t>个实例，这</a:t>
            </a:r>
            <a:r>
              <a:rPr lang="en" altLang="zh-CN" dirty="0"/>
              <a:t>K</a:t>
            </a:r>
            <a:r>
              <a:rPr lang="zh-CN" altLang="en-US" dirty="0"/>
              <a:t>个实例的多数属于某个类，就把该输入实例分类到这个类中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327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FB7F-7564-10D3-2FC5-A9F7D7C6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AF4D2296-D13B-EC0C-D4E0-BEB240F70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0130"/>
            <a:ext cx="10486769" cy="929168"/>
          </a:xfrm>
        </p:spPr>
        <p:txBody>
          <a:bodyPr>
            <a:normAutofit/>
          </a:bodyPr>
          <a:lstStyle/>
          <a:p>
            <a:pPr algn="l"/>
            <a:r>
              <a:rPr lang="en-US" altLang="zh-CN" sz="4000" dirty="0">
                <a:solidFill>
                  <a:srgbClr val="191B1F"/>
                </a:solidFill>
                <a:latin typeface="-apple-system"/>
              </a:rPr>
              <a:t>K</a:t>
            </a:r>
            <a:r>
              <a:rPr lang="zh-CN" altLang="en-US" sz="4000" dirty="0">
                <a:solidFill>
                  <a:srgbClr val="191B1F"/>
                </a:solidFill>
                <a:latin typeface="-apple-system"/>
              </a:rPr>
              <a:t>近邻</a:t>
            </a:r>
            <a:endParaRPr kumimoji="1" lang="zh-CN" altLang="en-US" sz="4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0ADC93-5C9D-2254-28DB-51AF3D33B311}"/>
              </a:ext>
            </a:extLst>
          </p:cNvPr>
          <p:cNvSpPr txBox="1"/>
          <p:nvPr/>
        </p:nvSpPr>
        <p:spPr>
          <a:xfrm>
            <a:off x="1628078" y="1832459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参数</a:t>
            </a:r>
            <a:r>
              <a:rPr kumimoji="1" lang="en-US" altLang="zh-CN" dirty="0"/>
              <a:t>k</a:t>
            </a:r>
            <a:r>
              <a:rPr kumimoji="1" lang="zh-CN" altLang="en-US" dirty="0"/>
              <a:t>选择</a:t>
            </a:r>
            <a:r>
              <a:rPr kumimoji="1" lang="en-US" altLang="zh-CN" dirty="0"/>
              <a:t>:</a:t>
            </a:r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1A7986-6CC2-F420-8FEA-6DF1630D5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9" y="2366794"/>
            <a:ext cx="3645219" cy="32947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8A3716-7B4F-CA34-346C-2FE48B3FF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749" y="2460211"/>
            <a:ext cx="3132616" cy="31078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DE0C5D-4E4D-BC57-7938-87E97033D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407" y="2588578"/>
            <a:ext cx="3549650" cy="2851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986DC3-0F29-BF4D-8FE3-F658E1F22E18}"/>
              </a:ext>
            </a:extLst>
          </p:cNvPr>
          <p:cNvSpPr txBox="1"/>
          <p:nvPr/>
        </p:nvSpPr>
        <p:spPr>
          <a:xfrm>
            <a:off x="1941991" y="5661511"/>
            <a:ext cx="132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K=1:</a:t>
            </a:r>
            <a:r>
              <a:rPr kumimoji="1" lang="zh-CN" altLang="en-US" dirty="0"/>
              <a:t>噪声大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CA46BE-5A89-1A97-DCBF-97E08C7AF1B6}"/>
              </a:ext>
            </a:extLst>
          </p:cNvPr>
          <p:cNvSpPr txBox="1"/>
          <p:nvPr/>
        </p:nvSpPr>
        <p:spPr>
          <a:xfrm>
            <a:off x="5435143" y="5661511"/>
            <a:ext cx="132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K=8:</a:t>
            </a:r>
            <a:r>
              <a:rPr kumimoji="1" lang="zh-CN" altLang="en-US" dirty="0"/>
              <a:t>正确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E54C70-7BCB-64A4-9961-EF4E251A074E}"/>
              </a:ext>
            </a:extLst>
          </p:cNvPr>
          <p:cNvSpPr txBox="1"/>
          <p:nvPr/>
        </p:nvSpPr>
        <p:spPr>
          <a:xfrm>
            <a:off x="8928295" y="5661511"/>
            <a:ext cx="2435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</a:t>
            </a:r>
            <a:r>
              <a:rPr kumimoji="1" lang="zh-CN" altLang="en-US" dirty="0"/>
              <a:t>很大，无效分类</a:t>
            </a:r>
          </a:p>
        </p:txBody>
      </p:sp>
    </p:spTree>
    <p:extLst>
      <p:ext uri="{BB962C8B-B14F-4D97-AF65-F5344CB8AC3E}">
        <p14:creationId xmlns:p14="http://schemas.microsoft.com/office/powerpoint/2010/main" val="2155275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5D2F-55E7-9221-B789-2597494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0293FF52-E466-308E-BFD4-A39C356F1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20130"/>
            <a:ext cx="10486769" cy="929168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dirty="0">
                <a:solidFill>
                  <a:srgbClr val="191B1F"/>
                </a:solidFill>
                <a:latin typeface="-apple-system"/>
              </a:rPr>
              <a:t>贝叶斯规则分类</a:t>
            </a:r>
            <a:endParaRPr kumimoji="1" lang="zh-CN" altLang="en-US" sz="40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A3B0DFA-9989-5426-2859-3BB0EFB26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676" y="4766619"/>
            <a:ext cx="5765800" cy="812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E0E8B99-1D74-C7E5-BC22-45E32B42F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676" y="3799140"/>
            <a:ext cx="4940300" cy="8255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99B54A7-F7EF-EFD5-4CE0-A25F34AFA4C9}"/>
              </a:ext>
            </a:extLst>
          </p:cNvPr>
          <p:cNvSpPr txBox="1"/>
          <p:nvPr/>
        </p:nvSpPr>
        <p:spPr>
          <a:xfrm>
            <a:off x="1568937" y="3244334"/>
            <a:ext cx="8547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ffectLst/>
                <a:latin typeface="Google Sans Text"/>
              </a:rPr>
              <a:t>目标</a:t>
            </a:r>
            <a:r>
              <a:rPr lang="zh-CN" altLang="en-US" dirty="0"/>
              <a:t>：有一个新数据 </a:t>
            </a:r>
            <a:r>
              <a:rPr lang="en" altLang="zh-CN" dirty="0">
                <a:effectLst/>
                <a:latin typeface="Google Sans Text"/>
              </a:rPr>
              <a:t>X</a:t>
            </a:r>
            <a:r>
              <a:rPr lang="zh-CN" altLang="en" dirty="0"/>
              <a:t>，</a:t>
            </a:r>
            <a:r>
              <a:rPr lang="zh-CN" altLang="en-US" dirty="0"/>
              <a:t>还有先验</a:t>
            </a:r>
            <a:r>
              <a:rPr lang="en-US" altLang="zh-CN" dirty="0"/>
              <a:t>P(C</a:t>
            </a:r>
            <a:r>
              <a:rPr lang="en-US" altLang="zh-CN" baseline="-25000" dirty="0"/>
              <a:t>k</a:t>
            </a:r>
            <a:r>
              <a:rPr lang="en-US" altLang="zh-CN" dirty="0"/>
              <a:t>)</a:t>
            </a:r>
            <a:r>
              <a:rPr lang="zh-CN" altLang="en-US" dirty="0"/>
              <a:t>，想判断”</a:t>
            </a:r>
            <a:r>
              <a:rPr lang="zh-CN" altLang="en-US" b="1" dirty="0">
                <a:effectLst/>
                <a:latin typeface="Google Sans Text"/>
              </a:rPr>
              <a:t>它的</a:t>
            </a:r>
            <a:r>
              <a:rPr lang="zh-CN" altLang="en-US" dirty="0"/>
              <a:t>类别 </a:t>
            </a:r>
            <a:r>
              <a:rPr lang="en" altLang="zh-CN" dirty="0">
                <a:effectLst/>
                <a:latin typeface="Google Sans Text"/>
              </a:rPr>
              <a:t>Ck</a:t>
            </a:r>
            <a:r>
              <a:rPr lang="zh-CN" altLang="en" dirty="0"/>
              <a:t>。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433FC3-C8C9-29A1-76DA-78A2C698C734}"/>
              </a:ext>
            </a:extLst>
          </p:cNvPr>
          <p:cNvSpPr txBox="1"/>
          <p:nvPr/>
        </p:nvSpPr>
        <p:spPr>
          <a:xfrm>
            <a:off x="1613876" y="3888133"/>
            <a:ext cx="139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公式：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对数形式</a:t>
            </a:r>
            <a:endParaRPr kumimoji="1"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9524CE-4E46-B2E5-2D88-B5523B894B22}"/>
              </a:ext>
            </a:extLst>
          </p:cNvPr>
          <p:cNvSpPr txBox="1"/>
          <p:nvPr/>
        </p:nvSpPr>
        <p:spPr>
          <a:xfrm>
            <a:off x="7533224" y="5365461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与</a:t>
            </a:r>
            <a:r>
              <a:rPr kumimoji="1" lang="en-US" altLang="zh-CN" dirty="0"/>
              <a:t>LRT</a:t>
            </a:r>
            <a:r>
              <a:rPr kumimoji="1" lang="zh-CN" altLang="en-US" dirty="0"/>
              <a:t>的区别？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2E68A9-D458-D0D1-92F9-2C182A57D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876" y="1853853"/>
            <a:ext cx="40386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0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306</Words>
  <Application>Microsoft Macintosh PowerPoint</Application>
  <PresentationFormat>宽屏</PresentationFormat>
  <Paragraphs>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-apple-system</vt:lpstr>
      <vt:lpstr>等线</vt:lpstr>
      <vt:lpstr>等线 Light</vt:lpstr>
      <vt:lpstr>Google Sans Text</vt:lpstr>
      <vt:lpstr>Arial</vt:lpstr>
      <vt:lpstr>Office 主题​​</vt:lpstr>
      <vt:lpstr>分类问题：参数估计与非参数估计</vt:lpstr>
      <vt:lpstr>似然率测试规则</vt:lpstr>
      <vt:lpstr>最大后验概率估计（MAP）</vt:lpstr>
      <vt:lpstr>高斯核函数</vt:lpstr>
      <vt:lpstr>K近邻</vt:lpstr>
      <vt:lpstr>K近邻</vt:lpstr>
      <vt:lpstr>贝叶斯规则分类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61</cp:revision>
  <dcterms:created xsi:type="dcterms:W3CDTF">2025-11-04T14:06:46Z</dcterms:created>
  <dcterms:modified xsi:type="dcterms:W3CDTF">2025-11-05T08:44:32Z</dcterms:modified>
</cp:coreProperties>
</file>