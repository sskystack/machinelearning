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5" r:id="rId3"/>
    <p:sldId id="264" r:id="rId4"/>
    <p:sldId id="266" r:id="rId5"/>
    <p:sldId id="275" r:id="rId6"/>
    <p:sldId id="267" r:id="rId7"/>
    <p:sldId id="268" r:id="rId8"/>
    <p:sldId id="274" r:id="rId9"/>
    <p:sldId id="269" r:id="rId10"/>
    <p:sldId id="270" r:id="rId11"/>
    <p:sldId id="262" r:id="rId12"/>
    <p:sldId id="273" r:id="rId13"/>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00"/>
    <p:restoredTop sz="83714"/>
  </p:normalViewPr>
  <p:slideViewPr>
    <p:cSldViewPr snapToGrid="0" snapToObjects="1">
      <p:cViewPr varScale="1">
        <p:scale>
          <a:sx n="101" d="100"/>
          <a:sy n="101" d="100"/>
        </p:scale>
        <p:origin x="12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8ED8D-3847-0047-B186-224CAC869777}" type="datetimeFigureOut">
              <a:rPr lang="en-CH" smtClean="0"/>
              <a:t>12/30/25</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D384CF-C12C-7C45-9C27-3159863AF81D}" type="slidenum">
              <a:rPr lang="en-CH" smtClean="0"/>
              <a:t>‹#›</a:t>
            </a:fld>
            <a:endParaRPr lang="en-CH"/>
          </a:p>
        </p:txBody>
      </p:sp>
    </p:spTree>
    <p:extLst>
      <p:ext uri="{BB962C8B-B14F-4D97-AF65-F5344CB8AC3E}">
        <p14:creationId xmlns:p14="http://schemas.microsoft.com/office/powerpoint/2010/main" val="1698230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F7D384CF-C12C-7C45-9C27-3159863AF81D}" type="slidenum">
              <a:rPr lang="en-CH" smtClean="0"/>
              <a:t>1</a:t>
            </a:fld>
            <a:endParaRPr lang="en-CH"/>
          </a:p>
        </p:txBody>
      </p:sp>
    </p:spTree>
    <p:extLst>
      <p:ext uri="{BB962C8B-B14F-4D97-AF65-F5344CB8AC3E}">
        <p14:creationId xmlns:p14="http://schemas.microsoft.com/office/powerpoint/2010/main" val="1040575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The second task concers with implementing a simplied version of SegNet which was introduced in the lecture.</a:t>
            </a:r>
          </a:p>
        </p:txBody>
      </p:sp>
      <p:sp>
        <p:nvSpPr>
          <p:cNvPr id="4" name="Slide Number Placeholder 3"/>
          <p:cNvSpPr>
            <a:spLocks noGrp="1"/>
          </p:cNvSpPr>
          <p:nvPr>
            <p:ph type="sldNum" sz="quarter" idx="5"/>
          </p:nvPr>
        </p:nvSpPr>
        <p:spPr/>
        <p:txBody>
          <a:bodyPr/>
          <a:lstStyle/>
          <a:p>
            <a:fld id="{F7D384CF-C12C-7C45-9C27-3159863AF81D}" type="slidenum">
              <a:rPr lang="en-CH" smtClean="0"/>
              <a:t>2</a:t>
            </a:fld>
            <a:endParaRPr lang="en-CH"/>
          </a:p>
        </p:txBody>
      </p:sp>
    </p:spTree>
    <p:extLst>
      <p:ext uri="{BB962C8B-B14F-4D97-AF65-F5344CB8AC3E}">
        <p14:creationId xmlns:p14="http://schemas.microsoft.com/office/powerpoint/2010/main" val="3993487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For this simplified version, we will have one convolution per block instead of multiple convolutions. The numbers in this slide indicate dimensions of output tensor of each convolution layer.</a:t>
            </a:r>
          </a:p>
        </p:txBody>
      </p:sp>
      <p:sp>
        <p:nvSpPr>
          <p:cNvPr id="4" name="Slide Number Placeholder 3"/>
          <p:cNvSpPr>
            <a:spLocks noGrp="1"/>
          </p:cNvSpPr>
          <p:nvPr>
            <p:ph type="sldNum" sz="quarter" idx="5"/>
          </p:nvPr>
        </p:nvSpPr>
        <p:spPr/>
        <p:txBody>
          <a:bodyPr/>
          <a:lstStyle/>
          <a:p>
            <a:fld id="{F7D384CF-C12C-7C45-9C27-3159863AF81D}" type="slidenum">
              <a:rPr lang="en-CH" smtClean="0"/>
              <a:t>3</a:t>
            </a:fld>
            <a:endParaRPr lang="en-CH"/>
          </a:p>
        </p:txBody>
      </p:sp>
    </p:spTree>
    <p:extLst>
      <p:ext uri="{BB962C8B-B14F-4D97-AF65-F5344CB8AC3E}">
        <p14:creationId xmlns:p14="http://schemas.microsoft.com/office/powerpoint/2010/main" val="809038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The modules you need to build this network include Conv2d, BatchNorm2d, MaxPool2d and MaxUnpool2d. Since you already learned about Conv2d and MaxPool2d in the last assignment, we will skip them here and talk about the other two modules.</a:t>
            </a:r>
          </a:p>
        </p:txBody>
      </p:sp>
      <p:sp>
        <p:nvSpPr>
          <p:cNvPr id="4" name="Slide Number Placeholder 3"/>
          <p:cNvSpPr>
            <a:spLocks noGrp="1"/>
          </p:cNvSpPr>
          <p:nvPr>
            <p:ph type="sldNum" sz="quarter" idx="5"/>
          </p:nvPr>
        </p:nvSpPr>
        <p:spPr/>
        <p:txBody>
          <a:bodyPr/>
          <a:lstStyle/>
          <a:p>
            <a:fld id="{F7D384CF-C12C-7C45-9C27-3159863AF81D}" type="slidenum">
              <a:rPr lang="en-CH" smtClean="0"/>
              <a:t>4</a:t>
            </a:fld>
            <a:endParaRPr lang="en-CH"/>
          </a:p>
        </p:txBody>
      </p:sp>
    </p:spTree>
    <p:extLst>
      <p:ext uri="{BB962C8B-B14F-4D97-AF65-F5344CB8AC3E}">
        <p14:creationId xmlns:p14="http://schemas.microsoft.com/office/powerpoint/2010/main" val="3835053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A1741-435F-5576-8481-329726426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6209F-DE0B-F3AB-0833-787F7BA6BE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55131D-5167-4F0F-DCCF-B36D8F8C0081}"/>
              </a:ext>
            </a:extLst>
          </p:cNvPr>
          <p:cNvSpPr>
            <a:spLocks noGrp="1"/>
          </p:cNvSpPr>
          <p:nvPr>
            <p:ph type="body" idx="1"/>
          </p:nvPr>
        </p:nvSpPr>
        <p:spPr/>
        <p:txBody>
          <a:bodyPr/>
          <a:lstStyle/>
          <a:p>
            <a:r>
              <a:rPr lang="en-CH" dirty="0"/>
              <a:t>The modules you need to build this network include Conv2d, BatchNorm2d, MaxPool2d and MaxUnpool2d. Since you already learned about Conv2d and MaxPool2d in the last assignment, we will skip them here and talk about the other two modules.</a:t>
            </a:r>
          </a:p>
        </p:txBody>
      </p:sp>
      <p:sp>
        <p:nvSpPr>
          <p:cNvPr id="4" name="Slide Number Placeholder 3">
            <a:extLst>
              <a:ext uri="{FF2B5EF4-FFF2-40B4-BE49-F238E27FC236}">
                <a16:creationId xmlns:a16="http://schemas.microsoft.com/office/drawing/2014/main" id="{C158F7CC-9421-F47C-C82E-83E2BD4A0BAF}"/>
              </a:ext>
            </a:extLst>
          </p:cNvPr>
          <p:cNvSpPr>
            <a:spLocks noGrp="1"/>
          </p:cNvSpPr>
          <p:nvPr>
            <p:ph type="sldNum" sz="quarter" idx="5"/>
          </p:nvPr>
        </p:nvSpPr>
        <p:spPr/>
        <p:txBody>
          <a:bodyPr/>
          <a:lstStyle/>
          <a:p>
            <a:fld id="{F7D384CF-C12C-7C45-9C27-3159863AF81D}" type="slidenum">
              <a:rPr lang="en-CH" smtClean="0"/>
              <a:t>5</a:t>
            </a:fld>
            <a:endParaRPr lang="en-CH"/>
          </a:p>
        </p:txBody>
      </p:sp>
    </p:spTree>
    <p:extLst>
      <p:ext uri="{BB962C8B-B14F-4D97-AF65-F5344CB8AC3E}">
        <p14:creationId xmlns:p14="http://schemas.microsoft.com/office/powerpoint/2010/main" val="2147131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BatchNorm layer aims to normalize the outputs of a certain layer. In this way it can make the training process converge faster while also generalize better. Here in the equation, E and V represents mean and variance computed per-minibatch, while gamma and beta constitutes a learnable affine transformation. By default, the Batchnorm layer maintains running mean and variance internally and update them with a momentum during training, while at testing it fixes these running mean and variance and use them for normalizatoin. Usually you don’t need to change the default hyperparameters of this Module.</a:t>
            </a:r>
          </a:p>
        </p:txBody>
      </p:sp>
      <p:sp>
        <p:nvSpPr>
          <p:cNvPr id="4" name="Slide Number Placeholder 3"/>
          <p:cNvSpPr>
            <a:spLocks noGrp="1"/>
          </p:cNvSpPr>
          <p:nvPr>
            <p:ph type="sldNum" sz="quarter" idx="5"/>
          </p:nvPr>
        </p:nvSpPr>
        <p:spPr/>
        <p:txBody>
          <a:bodyPr/>
          <a:lstStyle/>
          <a:p>
            <a:fld id="{F7D384CF-C12C-7C45-9C27-3159863AF81D}" type="slidenum">
              <a:rPr lang="en-CH" smtClean="0"/>
              <a:t>6</a:t>
            </a:fld>
            <a:endParaRPr lang="en-CH"/>
          </a:p>
        </p:txBody>
      </p:sp>
    </p:spTree>
    <p:extLst>
      <p:ext uri="{BB962C8B-B14F-4D97-AF65-F5344CB8AC3E}">
        <p14:creationId xmlns:p14="http://schemas.microsoft.com/office/powerpoint/2010/main" val="1603361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MaxUnpooling was introduced in the lecture. Basically it takes the outputs of MaxPooling layer as inputs, including network activations and max indices. The output would be an unsampled tensor, with max values from max-pooling perserved while other non-max values setting to 0.</a:t>
            </a:r>
          </a:p>
        </p:txBody>
      </p:sp>
      <p:sp>
        <p:nvSpPr>
          <p:cNvPr id="4" name="Slide Number Placeholder 3"/>
          <p:cNvSpPr>
            <a:spLocks noGrp="1"/>
          </p:cNvSpPr>
          <p:nvPr>
            <p:ph type="sldNum" sz="quarter" idx="5"/>
          </p:nvPr>
        </p:nvSpPr>
        <p:spPr/>
        <p:txBody>
          <a:bodyPr/>
          <a:lstStyle/>
          <a:p>
            <a:fld id="{F7D384CF-C12C-7C45-9C27-3159863AF81D}" type="slidenum">
              <a:rPr lang="en-CH" smtClean="0"/>
              <a:t>7</a:t>
            </a:fld>
            <a:endParaRPr lang="en-CH"/>
          </a:p>
        </p:txBody>
      </p:sp>
    </p:spTree>
    <p:extLst>
      <p:ext uri="{BB962C8B-B14F-4D97-AF65-F5344CB8AC3E}">
        <p14:creationId xmlns:p14="http://schemas.microsoft.com/office/powerpoint/2010/main" val="456755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Semantic segmentation is essentially a per-pixel classification problem, so you can just apply element-wise cross_entropy loss on your network’s output. Note that in PyTorch, the input to cross_entropy function should be unnormalized (i.e. without applying softmax).</a:t>
            </a:r>
          </a:p>
        </p:txBody>
      </p:sp>
      <p:sp>
        <p:nvSpPr>
          <p:cNvPr id="4" name="Slide Number Placeholder 3"/>
          <p:cNvSpPr>
            <a:spLocks noGrp="1"/>
          </p:cNvSpPr>
          <p:nvPr>
            <p:ph type="sldNum" sz="quarter" idx="5"/>
          </p:nvPr>
        </p:nvSpPr>
        <p:spPr/>
        <p:txBody>
          <a:bodyPr/>
          <a:lstStyle/>
          <a:p>
            <a:fld id="{F7D384CF-C12C-7C45-9C27-3159863AF81D}" type="slidenum">
              <a:rPr lang="en-CH" smtClean="0"/>
              <a:t>9</a:t>
            </a:fld>
            <a:endParaRPr lang="en-CH"/>
          </a:p>
        </p:txBody>
      </p:sp>
    </p:spTree>
    <p:extLst>
      <p:ext uri="{BB962C8B-B14F-4D97-AF65-F5344CB8AC3E}">
        <p14:creationId xmlns:p14="http://schemas.microsoft.com/office/powerpoint/2010/main" val="3528310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To evaluation the semantic segmentation, we use the intersection over union metric, or IoU. Given the ground-truth mask and your predicted mask, IoU literally computes the value of the intersection of the two masks over the union of the two masks.</a:t>
            </a:r>
          </a:p>
        </p:txBody>
      </p:sp>
      <p:sp>
        <p:nvSpPr>
          <p:cNvPr id="4" name="Slide Number Placeholder 3"/>
          <p:cNvSpPr>
            <a:spLocks noGrp="1"/>
          </p:cNvSpPr>
          <p:nvPr>
            <p:ph type="sldNum" sz="quarter" idx="5"/>
          </p:nvPr>
        </p:nvSpPr>
        <p:spPr/>
        <p:txBody>
          <a:bodyPr/>
          <a:lstStyle/>
          <a:p>
            <a:fld id="{F7D384CF-C12C-7C45-9C27-3159863AF81D}" type="slidenum">
              <a:rPr lang="en-CH" smtClean="0"/>
              <a:t>10</a:t>
            </a:fld>
            <a:endParaRPr lang="en-CH"/>
          </a:p>
        </p:txBody>
      </p:sp>
    </p:spTree>
    <p:extLst>
      <p:ext uri="{BB962C8B-B14F-4D97-AF65-F5344CB8AC3E}">
        <p14:creationId xmlns:p14="http://schemas.microsoft.com/office/powerpoint/2010/main" val="2593995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You will be working on multi-digit MNIST dataset, in which hand-written numbers are placed randomly and you need classify for each pixel whether it belongs to one of the digits or to the background. So the number of classes would be 10 digits plus the background class.</a:t>
            </a:r>
          </a:p>
        </p:txBody>
      </p:sp>
      <p:sp>
        <p:nvSpPr>
          <p:cNvPr id="4" name="Slide Number Placeholder 3"/>
          <p:cNvSpPr>
            <a:spLocks noGrp="1"/>
          </p:cNvSpPr>
          <p:nvPr>
            <p:ph type="sldNum" sz="quarter" idx="5"/>
          </p:nvPr>
        </p:nvSpPr>
        <p:spPr/>
        <p:txBody>
          <a:bodyPr/>
          <a:lstStyle/>
          <a:p>
            <a:fld id="{F7D384CF-C12C-7C45-9C27-3159863AF81D}" type="slidenum">
              <a:rPr lang="en-CH" smtClean="0"/>
              <a:t>11</a:t>
            </a:fld>
            <a:endParaRPr lang="en-CH"/>
          </a:p>
        </p:txBody>
      </p:sp>
    </p:spTree>
    <p:extLst>
      <p:ext uri="{BB962C8B-B14F-4D97-AF65-F5344CB8AC3E}">
        <p14:creationId xmlns:p14="http://schemas.microsoft.com/office/powerpoint/2010/main" val="2619260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kern="1200" dirty="0">
                <a:solidFill>
                  <a:schemeClr val="tx1"/>
                </a:solidFill>
                <a:effectLst/>
                <a:latin typeface="+mn-lt"/>
                <a:ea typeface="+mn-ea"/>
                <a:cs typeface="+mn-cs"/>
              </a:rPr>
              <a:t># python </a:t>
            </a:r>
            <a:r>
              <a:rPr lang="en" altLang="zh-CN" sz="1200" b="0" kern="1200" dirty="0" err="1">
                <a:solidFill>
                  <a:schemeClr val="tx1"/>
                </a:solidFill>
                <a:effectLst/>
                <a:latin typeface="+mn-lt"/>
                <a:ea typeface="+mn-ea"/>
                <a:cs typeface="+mn-cs"/>
              </a:rPr>
              <a:t>visualize_simple.py</a:t>
            </a:r>
            <a:r>
              <a:rPr lang="en" altLang="zh-CN" sz="1200" b="0" kern="1200" dirty="0">
                <a:solidFill>
                  <a:schemeClr val="tx1"/>
                </a:solidFill>
                <a:effectLst/>
                <a:latin typeface="+mn-lt"/>
                <a:ea typeface="+mn-ea"/>
                <a:cs typeface="+mn-cs"/>
              </a:rPr>
              <a:t> \</a:t>
            </a:r>
          </a:p>
          <a:p>
            <a:r>
              <a:rPr lang="en" altLang="zh-CN" sz="1200" b="0" kern="1200" dirty="0">
                <a:solidFill>
                  <a:schemeClr val="tx1"/>
                </a:solidFill>
                <a:effectLst/>
                <a:latin typeface="+mn-lt"/>
                <a:ea typeface="+mn-ea"/>
                <a:cs typeface="+mn-cs"/>
              </a:rPr>
              <a:t># --model </a:t>
            </a:r>
            <a:r>
              <a:rPr lang="en" altLang="zh-CN" sz="1200" b="0" kern="1200" dirty="0" err="1">
                <a:solidFill>
                  <a:schemeClr val="tx1"/>
                </a:solidFill>
                <a:effectLst/>
                <a:latin typeface="+mn-lt"/>
                <a:ea typeface="+mn-ea"/>
                <a:cs typeface="+mn-cs"/>
              </a:rPr>
              <a:t>segnet</a:t>
            </a:r>
            <a:r>
              <a:rPr lang="en" altLang="zh-CN" sz="1200" b="0" kern="1200" dirty="0">
                <a:solidFill>
                  <a:schemeClr val="tx1"/>
                </a:solidFill>
                <a:effectLst/>
                <a:latin typeface="+mn-lt"/>
                <a:ea typeface="+mn-ea"/>
                <a:cs typeface="+mn-cs"/>
              </a:rPr>
              <a:t> \</a:t>
            </a:r>
          </a:p>
          <a:p>
            <a:r>
              <a:rPr lang="en" altLang="zh-CN" sz="1200" b="0" kern="1200" dirty="0">
                <a:solidFill>
                  <a:schemeClr val="tx1"/>
                </a:solidFill>
                <a:effectLst/>
                <a:latin typeface="+mn-lt"/>
                <a:ea typeface="+mn-ea"/>
                <a:cs typeface="+mn-cs"/>
              </a:rPr>
              <a:t># --checkpoint out/</a:t>
            </a:r>
            <a:r>
              <a:rPr lang="en" altLang="zh-CN" sz="1200" b="0" kern="1200" dirty="0" err="1">
                <a:solidFill>
                  <a:schemeClr val="tx1"/>
                </a:solidFill>
                <a:effectLst/>
                <a:latin typeface="+mn-lt"/>
                <a:ea typeface="+mn-ea"/>
                <a:cs typeface="+mn-cs"/>
              </a:rPr>
              <a:t>checkpoint.pth.tar</a:t>
            </a:r>
            <a:r>
              <a:rPr lang="en" altLang="zh-CN" sz="1200" b="0" kern="1200" dirty="0">
                <a:solidFill>
                  <a:schemeClr val="tx1"/>
                </a:solidFill>
                <a:effectLst/>
                <a:latin typeface="+mn-lt"/>
                <a:ea typeface="+mn-ea"/>
                <a:cs typeface="+mn-cs"/>
              </a:rPr>
              <a:t> \</a:t>
            </a:r>
          </a:p>
          <a:p>
            <a:r>
              <a:rPr lang="en" altLang="zh-CN" sz="1200" b="0" kern="1200" dirty="0">
                <a:solidFill>
                  <a:schemeClr val="tx1"/>
                </a:solidFill>
                <a:effectLst/>
                <a:latin typeface="+mn-lt"/>
                <a:ea typeface="+mn-ea"/>
                <a:cs typeface="+mn-cs"/>
              </a:rPr>
              <a:t># --data data/multi-digit-</a:t>
            </a:r>
            <a:r>
              <a:rPr lang="en" altLang="zh-CN" sz="1200" b="0" kern="1200" dirty="0" err="1">
                <a:solidFill>
                  <a:schemeClr val="tx1"/>
                </a:solidFill>
                <a:effectLst/>
                <a:latin typeface="+mn-lt"/>
                <a:ea typeface="+mn-ea"/>
                <a:cs typeface="+mn-cs"/>
              </a:rPr>
              <a:t>mnist</a:t>
            </a:r>
            <a:r>
              <a:rPr lang="en" altLang="zh-CN" sz="1200" b="0" kern="1200" dirty="0">
                <a:solidFill>
                  <a:schemeClr val="tx1"/>
                </a:solidFill>
                <a:effectLst/>
                <a:latin typeface="+mn-lt"/>
                <a:ea typeface="+mn-ea"/>
                <a:cs typeface="+mn-cs"/>
              </a:rPr>
              <a:t>/testset001.mat \</a:t>
            </a:r>
          </a:p>
          <a:p>
            <a:r>
              <a:rPr lang="en" altLang="zh-CN" sz="1200" b="0" kern="1200" dirty="0">
                <a:solidFill>
                  <a:schemeClr val="tx1"/>
                </a:solidFill>
                <a:effectLst/>
                <a:latin typeface="+mn-lt"/>
                <a:ea typeface="+mn-ea"/>
                <a:cs typeface="+mn-cs"/>
              </a:rPr>
              <a:t># --save </a:t>
            </a:r>
            <a:r>
              <a:rPr lang="en" altLang="zh-CN" sz="1200" b="0" kern="1200" dirty="0" err="1">
                <a:solidFill>
                  <a:schemeClr val="tx1"/>
                </a:solidFill>
                <a:effectLst/>
                <a:latin typeface="+mn-lt"/>
                <a:ea typeface="+mn-ea"/>
                <a:cs typeface="+mn-cs"/>
              </a:rPr>
              <a:t>segnet_result.png</a:t>
            </a:r>
            <a:endParaRPr lang="en" altLang="zh-CN" sz="1200" b="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F7D384CF-C12C-7C45-9C27-3159863AF81D}" type="slidenum">
              <a:rPr lang="en-CH" smtClean="0"/>
              <a:t>12</a:t>
            </a:fld>
            <a:endParaRPr lang="en-CH"/>
          </a:p>
        </p:txBody>
      </p:sp>
    </p:spTree>
    <p:extLst>
      <p:ext uri="{BB962C8B-B14F-4D97-AF65-F5344CB8AC3E}">
        <p14:creationId xmlns:p14="http://schemas.microsoft.com/office/powerpoint/2010/main" val="2800289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A992-CA47-794F-AE9B-F9CBCCC550D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CH"/>
          </a:p>
        </p:txBody>
      </p:sp>
      <p:sp>
        <p:nvSpPr>
          <p:cNvPr id="3" name="Subtitle 2">
            <a:extLst>
              <a:ext uri="{FF2B5EF4-FFF2-40B4-BE49-F238E27FC236}">
                <a16:creationId xmlns:a16="http://schemas.microsoft.com/office/drawing/2014/main" id="{9EA27E3F-7F01-9E40-AAA4-2B5EAC44F0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H"/>
          </a:p>
        </p:txBody>
      </p:sp>
      <p:sp>
        <p:nvSpPr>
          <p:cNvPr id="4" name="Date Placeholder 3">
            <a:extLst>
              <a:ext uri="{FF2B5EF4-FFF2-40B4-BE49-F238E27FC236}">
                <a16:creationId xmlns:a16="http://schemas.microsoft.com/office/drawing/2014/main" id="{4B7165AE-2C6A-DF47-AE8A-B214E3ED8FAE}"/>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5" name="Footer Placeholder 4">
            <a:extLst>
              <a:ext uri="{FF2B5EF4-FFF2-40B4-BE49-F238E27FC236}">
                <a16:creationId xmlns:a16="http://schemas.microsoft.com/office/drawing/2014/main" id="{6D07390A-0A43-044A-985E-362EF3BD0C4F}"/>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00159827-76D3-A243-AAED-8D4692D2AA64}"/>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3515445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CD4B0-72B5-1849-804D-F71D7364A62D}"/>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A303424C-305A-414F-BA1F-9B89D4B61A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5AFDC1C2-B0F4-B34A-A8FD-3F2E294DAC8C}"/>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5" name="Footer Placeholder 4">
            <a:extLst>
              <a:ext uri="{FF2B5EF4-FFF2-40B4-BE49-F238E27FC236}">
                <a16:creationId xmlns:a16="http://schemas.microsoft.com/office/drawing/2014/main" id="{A61C1CF8-C146-914B-B51B-AF3E7CC2B603}"/>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B2A40B42-85D5-8E47-B855-5260F49E5080}"/>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1151810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8335-91C8-1D46-8F84-5239AF205CB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CH"/>
          </a:p>
        </p:txBody>
      </p:sp>
      <p:sp>
        <p:nvSpPr>
          <p:cNvPr id="3" name="Text Placeholder 2">
            <a:extLst>
              <a:ext uri="{FF2B5EF4-FFF2-40B4-BE49-F238E27FC236}">
                <a16:creationId xmlns:a16="http://schemas.microsoft.com/office/drawing/2014/main" id="{9705B844-33CC-4346-B2BE-B9232B4F01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C4B883F-0818-B54F-A261-BEA22E14899F}"/>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5" name="Footer Placeholder 4">
            <a:extLst>
              <a:ext uri="{FF2B5EF4-FFF2-40B4-BE49-F238E27FC236}">
                <a16:creationId xmlns:a16="http://schemas.microsoft.com/office/drawing/2014/main" id="{645F97B4-6F6C-A447-9030-F9CEB44ED217}"/>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DE9D4348-4185-9244-8F42-2E9108742F42}"/>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376180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FFED5-F16D-AF49-B53A-51F3815EC729}"/>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1434BBEE-0DC0-1444-94BF-0700ECF82B4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Content Placeholder 3">
            <a:extLst>
              <a:ext uri="{FF2B5EF4-FFF2-40B4-BE49-F238E27FC236}">
                <a16:creationId xmlns:a16="http://schemas.microsoft.com/office/drawing/2014/main" id="{1003E74C-C1E4-1048-9D60-54298793EC4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Date Placeholder 4">
            <a:extLst>
              <a:ext uri="{FF2B5EF4-FFF2-40B4-BE49-F238E27FC236}">
                <a16:creationId xmlns:a16="http://schemas.microsoft.com/office/drawing/2014/main" id="{641DF822-9AC1-124D-9A76-A6D4B8B3B9B8}"/>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6" name="Footer Placeholder 5">
            <a:extLst>
              <a:ext uri="{FF2B5EF4-FFF2-40B4-BE49-F238E27FC236}">
                <a16:creationId xmlns:a16="http://schemas.microsoft.com/office/drawing/2014/main" id="{39250010-82A1-8045-BB14-B1A3597698D0}"/>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789349E6-9664-9346-808B-7E6657680EDB}"/>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1897155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F397A-7E59-2B49-B067-45210457B434}"/>
              </a:ext>
            </a:extLst>
          </p:cNvPr>
          <p:cNvSpPr>
            <a:spLocks noGrp="1"/>
          </p:cNvSpPr>
          <p:nvPr>
            <p:ph type="title"/>
          </p:nvPr>
        </p:nvSpPr>
        <p:spPr>
          <a:xfrm>
            <a:off x="839788" y="365125"/>
            <a:ext cx="10515600" cy="1325563"/>
          </a:xfrm>
        </p:spPr>
        <p:txBody>
          <a:bodyPr/>
          <a:lstStyle/>
          <a:p>
            <a:r>
              <a:rPr lang="en-GB"/>
              <a:t>Click to edit Master title style</a:t>
            </a:r>
            <a:endParaRPr lang="en-CH"/>
          </a:p>
        </p:txBody>
      </p:sp>
      <p:sp>
        <p:nvSpPr>
          <p:cNvPr id="3" name="Text Placeholder 2">
            <a:extLst>
              <a:ext uri="{FF2B5EF4-FFF2-40B4-BE49-F238E27FC236}">
                <a16:creationId xmlns:a16="http://schemas.microsoft.com/office/drawing/2014/main" id="{B4F9500F-01DB-4648-8CD8-EE9912B6B4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4627B0C-95E6-2F41-96E1-83133BC206C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Text Placeholder 4">
            <a:extLst>
              <a:ext uri="{FF2B5EF4-FFF2-40B4-BE49-F238E27FC236}">
                <a16:creationId xmlns:a16="http://schemas.microsoft.com/office/drawing/2014/main" id="{62E4D7C2-54A1-0349-B590-5E8677644F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D4BC582-6D01-0C4C-A199-76128C291EE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7" name="Date Placeholder 6">
            <a:extLst>
              <a:ext uri="{FF2B5EF4-FFF2-40B4-BE49-F238E27FC236}">
                <a16:creationId xmlns:a16="http://schemas.microsoft.com/office/drawing/2014/main" id="{F7548E29-BC55-0C41-935A-CCEAF65975F6}"/>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8" name="Footer Placeholder 7">
            <a:extLst>
              <a:ext uri="{FF2B5EF4-FFF2-40B4-BE49-F238E27FC236}">
                <a16:creationId xmlns:a16="http://schemas.microsoft.com/office/drawing/2014/main" id="{D544C336-CBEE-EC48-AC6C-538C8D60187B}"/>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4C4E79D2-C80A-9545-9597-5B11FB1CFD6D}"/>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3788766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376D0-50EE-DB40-B768-4A1A87910D4B}"/>
              </a:ext>
            </a:extLst>
          </p:cNvPr>
          <p:cNvSpPr>
            <a:spLocks noGrp="1"/>
          </p:cNvSpPr>
          <p:nvPr>
            <p:ph type="title"/>
          </p:nvPr>
        </p:nvSpPr>
        <p:spPr/>
        <p:txBody>
          <a:bodyPr/>
          <a:lstStyle/>
          <a:p>
            <a:r>
              <a:rPr lang="en-GB"/>
              <a:t>Click to edit Master title style</a:t>
            </a:r>
            <a:endParaRPr lang="en-CH"/>
          </a:p>
        </p:txBody>
      </p:sp>
      <p:sp>
        <p:nvSpPr>
          <p:cNvPr id="3" name="Date Placeholder 2">
            <a:extLst>
              <a:ext uri="{FF2B5EF4-FFF2-40B4-BE49-F238E27FC236}">
                <a16:creationId xmlns:a16="http://schemas.microsoft.com/office/drawing/2014/main" id="{AD539AD2-9D70-374D-90AE-62C312D61ACE}"/>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4" name="Footer Placeholder 3">
            <a:extLst>
              <a:ext uri="{FF2B5EF4-FFF2-40B4-BE49-F238E27FC236}">
                <a16:creationId xmlns:a16="http://schemas.microsoft.com/office/drawing/2014/main" id="{AF0B6A4A-794A-9A48-89EF-48E49BF0A576}"/>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0D530252-E002-9048-8B9E-2B622375FAE0}"/>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842390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925190-06B2-1149-8691-CDCFD3A2C6DA}"/>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3" name="Footer Placeholder 2">
            <a:extLst>
              <a:ext uri="{FF2B5EF4-FFF2-40B4-BE49-F238E27FC236}">
                <a16:creationId xmlns:a16="http://schemas.microsoft.com/office/drawing/2014/main" id="{D0466BB8-1480-CB44-82D9-4D7AFAC05DD7}"/>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BE60E623-0441-5E46-9ED8-0CAB37F0D749}"/>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28097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680D-1354-7141-A11C-74E9A0F3276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Content Placeholder 2">
            <a:extLst>
              <a:ext uri="{FF2B5EF4-FFF2-40B4-BE49-F238E27FC236}">
                <a16:creationId xmlns:a16="http://schemas.microsoft.com/office/drawing/2014/main" id="{EE167C2A-8004-AD47-A82F-BA1BAA14E5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Text Placeholder 3">
            <a:extLst>
              <a:ext uri="{FF2B5EF4-FFF2-40B4-BE49-F238E27FC236}">
                <a16:creationId xmlns:a16="http://schemas.microsoft.com/office/drawing/2014/main" id="{35D5BCDE-953D-9946-8898-0B0C11489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0DB8C3B-34B0-B445-9613-2DA395220850}"/>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6" name="Footer Placeholder 5">
            <a:extLst>
              <a:ext uri="{FF2B5EF4-FFF2-40B4-BE49-F238E27FC236}">
                <a16:creationId xmlns:a16="http://schemas.microsoft.com/office/drawing/2014/main" id="{76D17FFE-4CA2-DD40-B8EC-DE6F710A0E23}"/>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6B11401D-7315-5A4B-935F-B8AC6A32E023}"/>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774508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E052-F863-194A-AFB9-957CAACC7F6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Picture Placeholder 2">
            <a:extLst>
              <a:ext uri="{FF2B5EF4-FFF2-40B4-BE49-F238E27FC236}">
                <a16:creationId xmlns:a16="http://schemas.microsoft.com/office/drawing/2014/main" id="{083A03E8-B8EA-D743-8A82-CEDF8F5E87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B2A8C4F9-52A2-454C-9633-3CA878AAA7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058F488-B4D2-674C-B53E-01A862E8049B}"/>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6" name="Footer Placeholder 5">
            <a:extLst>
              <a:ext uri="{FF2B5EF4-FFF2-40B4-BE49-F238E27FC236}">
                <a16:creationId xmlns:a16="http://schemas.microsoft.com/office/drawing/2014/main" id="{86B271BC-D2BF-CC49-83F3-F5188F74BE1C}"/>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CF646B44-977B-6D4A-8633-DC02C78829CD}"/>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3475465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2DCE8-E91F-8540-B3CD-D0E43F88727C}"/>
              </a:ext>
            </a:extLst>
          </p:cNvPr>
          <p:cNvSpPr>
            <a:spLocks noGrp="1"/>
          </p:cNvSpPr>
          <p:nvPr>
            <p:ph type="title"/>
          </p:nvPr>
        </p:nvSpPr>
        <p:spPr/>
        <p:txBody>
          <a:bodyPr/>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F3571583-01DF-2F4D-90BB-A2D17F41E66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1070E266-C7D3-1B43-83D8-EC9DFFED954A}"/>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5" name="Footer Placeholder 4">
            <a:extLst>
              <a:ext uri="{FF2B5EF4-FFF2-40B4-BE49-F238E27FC236}">
                <a16:creationId xmlns:a16="http://schemas.microsoft.com/office/drawing/2014/main" id="{11C23F12-C921-9643-A2B8-07F3DA7331B1}"/>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219F6A84-476C-214B-B1DA-40DDF3309D34}"/>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3377683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53923D-E28A-BC49-880C-44DE78335E2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10F607E9-FAF5-D248-ACEC-8C8894B16F0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782E4908-0386-684F-831D-E3457048A702}"/>
              </a:ext>
            </a:extLst>
          </p:cNvPr>
          <p:cNvSpPr>
            <a:spLocks noGrp="1"/>
          </p:cNvSpPr>
          <p:nvPr>
            <p:ph type="dt" sz="half" idx="10"/>
          </p:nvPr>
        </p:nvSpPr>
        <p:spPr/>
        <p:txBody>
          <a:bodyPr/>
          <a:lstStyle/>
          <a:p>
            <a:fld id="{76722D36-75D2-9945-9737-920E042955BC}" type="datetimeFigureOut">
              <a:rPr lang="en-CH" smtClean="0"/>
              <a:t>12/30/25</a:t>
            </a:fld>
            <a:endParaRPr lang="en-CH"/>
          </a:p>
        </p:txBody>
      </p:sp>
      <p:sp>
        <p:nvSpPr>
          <p:cNvPr id="5" name="Footer Placeholder 4">
            <a:extLst>
              <a:ext uri="{FF2B5EF4-FFF2-40B4-BE49-F238E27FC236}">
                <a16:creationId xmlns:a16="http://schemas.microsoft.com/office/drawing/2014/main" id="{BDC8F73E-EB6A-9D41-BD43-08E7926A7511}"/>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3ED722A9-40F1-2B47-8736-FCAC5A95058E}"/>
              </a:ext>
            </a:extLst>
          </p:cNvPr>
          <p:cNvSpPr>
            <a:spLocks noGrp="1"/>
          </p:cNvSpPr>
          <p:nvPr>
            <p:ph type="sldNum" sz="quarter" idx="12"/>
          </p:nvPr>
        </p:nvSpPr>
        <p:spPr/>
        <p:txBody>
          <a:bodyPr/>
          <a:lstStyle/>
          <a:p>
            <a:fld id="{258BE267-CE67-B644-B95E-0E0E10A295FF}" type="slidenum">
              <a:rPr lang="en-CH" smtClean="0"/>
              <a:t>‹#›</a:t>
            </a:fld>
            <a:endParaRPr lang="en-CH"/>
          </a:p>
        </p:txBody>
      </p:sp>
    </p:spTree>
    <p:extLst>
      <p:ext uri="{BB962C8B-B14F-4D97-AF65-F5344CB8AC3E}">
        <p14:creationId xmlns:p14="http://schemas.microsoft.com/office/powerpoint/2010/main" val="3019929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C7C6E7-0314-F642-A3B4-B0605DB21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CH"/>
          </a:p>
        </p:txBody>
      </p:sp>
      <p:sp>
        <p:nvSpPr>
          <p:cNvPr id="3" name="Text Placeholder 2">
            <a:extLst>
              <a:ext uri="{FF2B5EF4-FFF2-40B4-BE49-F238E27FC236}">
                <a16:creationId xmlns:a16="http://schemas.microsoft.com/office/drawing/2014/main" id="{E3B7C325-F3AF-214E-A998-3D0804E1AC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94B73904-5952-2744-8F38-E82E1EC209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722D36-75D2-9945-9737-920E042955BC}" type="datetimeFigureOut">
              <a:rPr lang="en-CH" smtClean="0"/>
              <a:t>12/30/25</a:t>
            </a:fld>
            <a:endParaRPr lang="en-CH"/>
          </a:p>
        </p:txBody>
      </p:sp>
      <p:sp>
        <p:nvSpPr>
          <p:cNvPr id="5" name="Footer Placeholder 4">
            <a:extLst>
              <a:ext uri="{FF2B5EF4-FFF2-40B4-BE49-F238E27FC236}">
                <a16:creationId xmlns:a16="http://schemas.microsoft.com/office/drawing/2014/main" id="{F9B6A4C5-E6A5-6F44-806C-9702D46004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H"/>
          </a:p>
        </p:txBody>
      </p:sp>
      <p:sp>
        <p:nvSpPr>
          <p:cNvPr id="6" name="Slide Number Placeholder 5">
            <a:extLst>
              <a:ext uri="{FF2B5EF4-FFF2-40B4-BE49-F238E27FC236}">
                <a16:creationId xmlns:a16="http://schemas.microsoft.com/office/drawing/2014/main" id="{2BBB7E89-A5D1-BE43-B7AF-AD1D98F261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8BE267-CE67-B644-B95E-0E0E10A295FF}" type="slidenum">
              <a:rPr lang="en-CH" smtClean="0"/>
              <a:t>‹#›</a:t>
            </a:fld>
            <a:endParaRPr lang="en-CH"/>
          </a:p>
        </p:txBody>
      </p:sp>
    </p:spTree>
    <p:extLst>
      <p:ext uri="{BB962C8B-B14F-4D97-AF65-F5344CB8AC3E}">
        <p14:creationId xmlns:p14="http://schemas.microsoft.com/office/powerpoint/2010/main" val="439958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pytorch.org/docs/stable/generated/torch.nn.BatchNorm2d.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pytorch.org/docs/stable/generated/torch.nn.MaxUnpool2d.html"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6727-6688-3A4C-97B8-237B46545664}"/>
              </a:ext>
            </a:extLst>
          </p:cNvPr>
          <p:cNvSpPr>
            <a:spLocks noGrp="1"/>
          </p:cNvSpPr>
          <p:nvPr>
            <p:ph type="ctrTitle"/>
          </p:nvPr>
        </p:nvSpPr>
        <p:spPr/>
        <p:txBody>
          <a:bodyPr/>
          <a:lstStyle/>
          <a:p>
            <a:r>
              <a:rPr lang="en-CH" dirty="0"/>
              <a:t>Image Segmentation</a:t>
            </a:r>
          </a:p>
        </p:txBody>
      </p:sp>
      <p:sp>
        <p:nvSpPr>
          <p:cNvPr id="3" name="Subtitle 2">
            <a:extLst>
              <a:ext uri="{FF2B5EF4-FFF2-40B4-BE49-F238E27FC236}">
                <a16:creationId xmlns:a16="http://schemas.microsoft.com/office/drawing/2014/main" id="{CC2C9F63-B463-3744-92C8-89706C04AF74}"/>
              </a:ext>
            </a:extLst>
          </p:cNvPr>
          <p:cNvSpPr>
            <a:spLocks noGrp="1"/>
          </p:cNvSpPr>
          <p:nvPr>
            <p:ph type="subTitle" idx="1"/>
          </p:nvPr>
        </p:nvSpPr>
        <p:spPr/>
        <p:txBody>
          <a:bodyPr/>
          <a:lstStyle/>
          <a:p>
            <a:r>
              <a:rPr lang="en-CH"/>
              <a:t>Computer Vision</a:t>
            </a:r>
            <a:endParaRPr lang="en-CH" dirty="0"/>
          </a:p>
        </p:txBody>
      </p:sp>
    </p:spTree>
    <p:extLst>
      <p:ext uri="{BB962C8B-B14F-4D97-AF65-F5344CB8AC3E}">
        <p14:creationId xmlns:p14="http://schemas.microsoft.com/office/powerpoint/2010/main" val="1859605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D9B9-D69A-C84D-B19C-A4C9D99D69FD}"/>
              </a:ext>
            </a:extLst>
          </p:cNvPr>
          <p:cNvSpPr>
            <a:spLocks noGrp="1"/>
          </p:cNvSpPr>
          <p:nvPr>
            <p:ph type="title"/>
          </p:nvPr>
        </p:nvSpPr>
        <p:spPr/>
        <p:txBody>
          <a:bodyPr/>
          <a:lstStyle/>
          <a:p>
            <a:r>
              <a:rPr lang="en-CH" dirty="0"/>
              <a:t>SegNet – From the Lecture</a:t>
            </a:r>
          </a:p>
        </p:txBody>
      </p:sp>
      <p:pic>
        <p:nvPicPr>
          <p:cNvPr id="5" name="Picture 4" descr="A screenshot of a computer&#10;&#10;Description automatically generated with low confidence">
            <a:extLst>
              <a:ext uri="{FF2B5EF4-FFF2-40B4-BE49-F238E27FC236}">
                <a16:creationId xmlns:a16="http://schemas.microsoft.com/office/drawing/2014/main" id="{BE20CE02-2F3A-0945-A259-A7388A6CE77F}"/>
              </a:ext>
            </a:extLst>
          </p:cNvPr>
          <p:cNvPicPr>
            <a:picLocks noChangeAspect="1"/>
          </p:cNvPicPr>
          <p:nvPr/>
        </p:nvPicPr>
        <p:blipFill>
          <a:blip r:embed="rId3"/>
          <a:stretch>
            <a:fillRect/>
          </a:stretch>
        </p:blipFill>
        <p:spPr>
          <a:xfrm>
            <a:off x="0" y="2500754"/>
            <a:ext cx="12192000" cy="3513852"/>
          </a:xfrm>
          <a:prstGeom prst="rect">
            <a:avLst/>
          </a:prstGeom>
        </p:spPr>
      </p:pic>
    </p:spTree>
    <p:extLst>
      <p:ext uri="{BB962C8B-B14F-4D97-AF65-F5344CB8AC3E}">
        <p14:creationId xmlns:p14="http://schemas.microsoft.com/office/powerpoint/2010/main" val="2298770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D9B9-D69A-C84D-B19C-A4C9D99D69FD}"/>
              </a:ext>
            </a:extLst>
          </p:cNvPr>
          <p:cNvSpPr>
            <a:spLocks noGrp="1"/>
          </p:cNvSpPr>
          <p:nvPr>
            <p:ph type="title"/>
          </p:nvPr>
        </p:nvSpPr>
        <p:spPr/>
        <p:txBody>
          <a:bodyPr/>
          <a:lstStyle/>
          <a:p>
            <a:r>
              <a:rPr lang="en-CH" dirty="0"/>
              <a:t>SegNet – Simplified Version</a:t>
            </a:r>
          </a:p>
        </p:txBody>
      </p:sp>
      <p:pic>
        <p:nvPicPr>
          <p:cNvPr id="6" name="Picture 5" descr="A picture containing chart&#10;&#10;Description automatically generated">
            <a:extLst>
              <a:ext uri="{FF2B5EF4-FFF2-40B4-BE49-F238E27FC236}">
                <a16:creationId xmlns:a16="http://schemas.microsoft.com/office/drawing/2014/main" id="{0EB7A077-6E0B-5C47-8D38-1E9F46F17605}"/>
              </a:ext>
            </a:extLst>
          </p:cNvPr>
          <p:cNvPicPr>
            <a:picLocks noChangeAspect="1"/>
          </p:cNvPicPr>
          <p:nvPr/>
        </p:nvPicPr>
        <p:blipFill>
          <a:blip r:embed="rId3"/>
          <a:stretch>
            <a:fillRect/>
          </a:stretch>
        </p:blipFill>
        <p:spPr>
          <a:xfrm>
            <a:off x="122455" y="1802822"/>
            <a:ext cx="11947090" cy="4690053"/>
          </a:xfrm>
          <a:prstGeom prst="rect">
            <a:avLst/>
          </a:prstGeom>
        </p:spPr>
      </p:pic>
    </p:spTree>
    <p:extLst>
      <p:ext uri="{BB962C8B-B14F-4D97-AF65-F5344CB8AC3E}">
        <p14:creationId xmlns:p14="http://schemas.microsoft.com/office/powerpoint/2010/main" val="4067617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D9B9-D69A-C84D-B19C-A4C9D99D69FD}"/>
              </a:ext>
            </a:extLst>
          </p:cNvPr>
          <p:cNvSpPr>
            <a:spLocks noGrp="1"/>
          </p:cNvSpPr>
          <p:nvPr>
            <p:ph type="title"/>
          </p:nvPr>
        </p:nvSpPr>
        <p:spPr/>
        <p:txBody>
          <a:bodyPr/>
          <a:lstStyle/>
          <a:p>
            <a:r>
              <a:rPr lang="en-CH" dirty="0"/>
              <a:t>Basic Modules</a:t>
            </a:r>
          </a:p>
        </p:txBody>
      </p:sp>
      <p:sp>
        <p:nvSpPr>
          <p:cNvPr id="3" name="Content Placeholder 2">
            <a:extLst>
              <a:ext uri="{FF2B5EF4-FFF2-40B4-BE49-F238E27FC236}">
                <a16:creationId xmlns:a16="http://schemas.microsoft.com/office/drawing/2014/main" id="{22474A38-9076-4A4E-AB9D-DC44CCECF8E8}"/>
              </a:ext>
            </a:extLst>
          </p:cNvPr>
          <p:cNvSpPr>
            <a:spLocks noGrp="1"/>
          </p:cNvSpPr>
          <p:nvPr>
            <p:ph idx="1"/>
          </p:nvPr>
        </p:nvSpPr>
        <p:spPr>
          <a:xfrm>
            <a:off x="838200" y="1825625"/>
            <a:ext cx="2681748" cy="4351338"/>
          </a:xfrm>
        </p:spPr>
        <p:txBody>
          <a:bodyPr>
            <a:normAutofit/>
          </a:bodyPr>
          <a:lstStyle/>
          <a:p>
            <a:r>
              <a:rPr lang="en-CH" sz="1800"/>
              <a:t>Conv2d,</a:t>
            </a:r>
            <a:endParaRPr lang="en-US" sz="1800" dirty="0"/>
          </a:p>
          <a:p>
            <a:r>
              <a:rPr lang="en-CH" sz="1800"/>
              <a:t>BatchNorm2d,</a:t>
            </a:r>
            <a:endParaRPr lang="en-US" sz="1800" dirty="0"/>
          </a:p>
          <a:p>
            <a:r>
              <a:rPr lang="en-CH" sz="1800"/>
              <a:t>MaxPool2d </a:t>
            </a:r>
            <a:endParaRPr lang="en-US" sz="1800" dirty="0"/>
          </a:p>
          <a:p>
            <a:r>
              <a:rPr lang="en-CH" sz="1800"/>
              <a:t>MaxUnpool2d</a:t>
            </a:r>
            <a:endParaRPr lang="en-CH" sz="1800" dirty="0"/>
          </a:p>
        </p:txBody>
      </p:sp>
      <p:pic>
        <p:nvPicPr>
          <p:cNvPr id="5" name="图片 4">
            <a:extLst>
              <a:ext uri="{FF2B5EF4-FFF2-40B4-BE49-F238E27FC236}">
                <a16:creationId xmlns:a16="http://schemas.microsoft.com/office/drawing/2014/main" id="{9C72469B-B39B-8B84-F165-D97B7828B8E9}"/>
              </a:ext>
            </a:extLst>
          </p:cNvPr>
          <p:cNvPicPr>
            <a:picLocks noChangeAspect="1"/>
          </p:cNvPicPr>
          <p:nvPr/>
        </p:nvPicPr>
        <p:blipFill>
          <a:blip r:embed="rId3"/>
          <a:stretch>
            <a:fillRect/>
          </a:stretch>
        </p:blipFill>
        <p:spPr>
          <a:xfrm>
            <a:off x="3126921" y="3523387"/>
            <a:ext cx="2978150" cy="2241550"/>
          </a:xfrm>
          <a:prstGeom prst="rect">
            <a:avLst/>
          </a:prstGeom>
        </p:spPr>
      </p:pic>
      <p:sp>
        <p:nvSpPr>
          <p:cNvPr id="7" name="文本框 6">
            <a:extLst>
              <a:ext uri="{FF2B5EF4-FFF2-40B4-BE49-F238E27FC236}">
                <a16:creationId xmlns:a16="http://schemas.microsoft.com/office/drawing/2014/main" id="{935D1267-EF12-74F2-9B96-9A867DA08ED2}"/>
              </a:ext>
            </a:extLst>
          </p:cNvPr>
          <p:cNvSpPr txBox="1"/>
          <p:nvPr/>
        </p:nvSpPr>
        <p:spPr>
          <a:xfrm>
            <a:off x="5712043" y="5673129"/>
            <a:ext cx="2869073" cy="369332"/>
          </a:xfrm>
          <a:prstGeom prst="rect">
            <a:avLst/>
          </a:prstGeom>
          <a:noFill/>
        </p:spPr>
        <p:txBody>
          <a:bodyPr wrap="square">
            <a:spAutoFit/>
          </a:bodyPr>
          <a:lstStyle/>
          <a:p>
            <a:r>
              <a:rPr lang="en-CH" altLang="zh-CN" b="1"/>
              <a:t>Conv</a:t>
            </a:r>
            <a:r>
              <a:rPr lang="en-US" altLang="zh-CN" b="1" dirty="0"/>
              <a:t>    pooling</a:t>
            </a:r>
            <a:endParaRPr lang="zh-CN" altLang="en-US" b="1" dirty="0"/>
          </a:p>
        </p:txBody>
      </p:sp>
      <p:pic>
        <p:nvPicPr>
          <p:cNvPr id="9" name="图片 8">
            <a:extLst>
              <a:ext uri="{FF2B5EF4-FFF2-40B4-BE49-F238E27FC236}">
                <a16:creationId xmlns:a16="http://schemas.microsoft.com/office/drawing/2014/main" id="{B795FBE2-8ED2-0264-0662-45FF81CAF37B}"/>
              </a:ext>
            </a:extLst>
          </p:cNvPr>
          <p:cNvPicPr>
            <a:picLocks noChangeAspect="1"/>
          </p:cNvPicPr>
          <p:nvPr/>
        </p:nvPicPr>
        <p:blipFill>
          <a:blip r:embed="rId4"/>
          <a:stretch>
            <a:fillRect/>
          </a:stretch>
        </p:blipFill>
        <p:spPr>
          <a:xfrm>
            <a:off x="6740012" y="3755463"/>
            <a:ext cx="4603955" cy="1777398"/>
          </a:xfrm>
          <a:prstGeom prst="rect">
            <a:avLst/>
          </a:prstGeom>
        </p:spPr>
      </p:pic>
      <p:sp>
        <p:nvSpPr>
          <p:cNvPr id="15" name="文本框 14">
            <a:extLst>
              <a:ext uri="{FF2B5EF4-FFF2-40B4-BE49-F238E27FC236}">
                <a16:creationId xmlns:a16="http://schemas.microsoft.com/office/drawing/2014/main" id="{62D51987-3281-8A8A-9E17-30C908309B06}"/>
              </a:ext>
            </a:extLst>
          </p:cNvPr>
          <p:cNvSpPr txBox="1"/>
          <p:nvPr/>
        </p:nvSpPr>
        <p:spPr>
          <a:xfrm>
            <a:off x="7493166" y="5796240"/>
            <a:ext cx="3414737" cy="400110"/>
          </a:xfrm>
          <a:prstGeom prst="rect">
            <a:avLst/>
          </a:prstGeom>
          <a:noFill/>
        </p:spPr>
        <p:txBody>
          <a:bodyPr wrap="square">
            <a:spAutoFit/>
          </a:bodyPr>
          <a:lstStyle/>
          <a:p>
            <a:r>
              <a:rPr lang="en-US" altLang="zh-CN" sz="1000" dirty="0"/>
              <a:t>https://</a:t>
            </a:r>
            <a:r>
              <a:rPr lang="en-US" altLang="zh-CN" sz="1000" dirty="0" err="1"/>
              <a:t>zhuanlan.zhihu.com</a:t>
            </a:r>
            <a:r>
              <a:rPr lang="en-US" altLang="zh-CN" sz="1000" dirty="0"/>
              <a:t>/p/76606892</a:t>
            </a:r>
          </a:p>
          <a:p>
            <a:r>
              <a:rPr lang="zh-CN" altLang="en-US" sz="1000" dirty="0"/>
              <a:t>https://blog.csdn.net/dongjinkun/article/details/117949042</a:t>
            </a:r>
          </a:p>
        </p:txBody>
      </p:sp>
      <p:pic>
        <p:nvPicPr>
          <p:cNvPr id="16" name="图片 15">
            <a:extLst>
              <a:ext uri="{FF2B5EF4-FFF2-40B4-BE49-F238E27FC236}">
                <a16:creationId xmlns:a16="http://schemas.microsoft.com/office/drawing/2014/main" id="{19625D97-916F-AA96-196B-D40AC7CB57D2}"/>
              </a:ext>
            </a:extLst>
          </p:cNvPr>
          <p:cNvPicPr>
            <a:picLocks noChangeAspect="1"/>
          </p:cNvPicPr>
          <p:nvPr/>
        </p:nvPicPr>
        <p:blipFill>
          <a:blip r:embed="rId5"/>
          <a:stretch>
            <a:fillRect/>
          </a:stretch>
        </p:blipFill>
        <p:spPr>
          <a:xfrm>
            <a:off x="4649719" y="1086505"/>
            <a:ext cx="6713464" cy="1057815"/>
          </a:xfrm>
          <a:prstGeom prst="rect">
            <a:avLst/>
          </a:prstGeom>
        </p:spPr>
      </p:pic>
      <p:pic>
        <p:nvPicPr>
          <p:cNvPr id="17" name="图片 16">
            <a:extLst>
              <a:ext uri="{FF2B5EF4-FFF2-40B4-BE49-F238E27FC236}">
                <a16:creationId xmlns:a16="http://schemas.microsoft.com/office/drawing/2014/main" id="{4BFF3A31-235A-13DE-0472-B9358AED0ADF}"/>
              </a:ext>
            </a:extLst>
          </p:cNvPr>
          <p:cNvPicPr>
            <a:picLocks noChangeAspect="1"/>
          </p:cNvPicPr>
          <p:nvPr/>
        </p:nvPicPr>
        <p:blipFill>
          <a:blip r:embed="rId6"/>
          <a:stretch>
            <a:fillRect/>
          </a:stretch>
        </p:blipFill>
        <p:spPr>
          <a:xfrm>
            <a:off x="6840740" y="2321972"/>
            <a:ext cx="1304851" cy="1325563"/>
          </a:xfrm>
          <a:prstGeom prst="rect">
            <a:avLst/>
          </a:prstGeom>
        </p:spPr>
      </p:pic>
      <p:pic>
        <p:nvPicPr>
          <p:cNvPr id="18" name="图片 17">
            <a:extLst>
              <a:ext uri="{FF2B5EF4-FFF2-40B4-BE49-F238E27FC236}">
                <a16:creationId xmlns:a16="http://schemas.microsoft.com/office/drawing/2014/main" id="{1DE15D59-E42C-E356-077C-2016CF44DA5F}"/>
              </a:ext>
            </a:extLst>
          </p:cNvPr>
          <p:cNvPicPr>
            <a:picLocks noChangeAspect="1"/>
          </p:cNvPicPr>
          <p:nvPr/>
        </p:nvPicPr>
        <p:blipFill>
          <a:blip r:embed="rId7"/>
          <a:stretch>
            <a:fillRect/>
          </a:stretch>
        </p:blipFill>
        <p:spPr>
          <a:xfrm>
            <a:off x="10036548" y="2298210"/>
            <a:ext cx="1317252" cy="1325563"/>
          </a:xfrm>
          <a:prstGeom prst="rect">
            <a:avLst/>
          </a:prstGeom>
        </p:spPr>
      </p:pic>
    </p:spTree>
    <p:extLst>
      <p:ext uri="{BB962C8B-B14F-4D97-AF65-F5344CB8AC3E}">
        <p14:creationId xmlns:p14="http://schemas.microsoft.com/office/powerpoint/2010/main" val="911235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F3DB0-A000-6B78-3B8A-25D1DAE0A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D7453-1111-B6D1-25DD-61D6A5A45E08}"/>
              </a:ext>
            </a:extLst>
          </p:cNvPr>
          <p:cNvSpPr>
            <a:spLocks noGrp="1"/>
          </p:cNvSpPr>
          <p:nvPr>
            <p:ph type="title"/>
          </p:nvPr>
        </p:nvSpPr>
        <p:spPr/>
        <p:txBody>
          <a:bodyPr/>
          <a:lstStyle/>
          <a:p>
            <a:r>
              <a:rPr lang="en-CH" dirty="0"/>
              <a:t>Basic Modules</a:t>
            </a:r>
          </a:p>
        </p:txBody>
      </p:sp>
      <p:sp>
        <p:nvSpPr>
          <p:cNvPr id="3" name="Content Placeholder 2">
            <a:extLst>
              <a:ext uri="{FF2B5EF4-FFF2-40B4-BE49-F238E27FC236}">
                <a16:creationId xmlns:a16="http://schemas.microsoft.com/office/drawing/2014/main" id="{2AFB2E1F-2441-8101-D3B7-622E3B7E9BFB}"/>
              </a:ext>
            </a:extLst>
          </p:cNvPr>
          <p:cNvSpPr>
            <a:spLocks noGrp="1"/>
          </p:cNvSpPr>
          <p:nvPr>
            <p:ph idx="1"/>
          </p:nvPr>
        </p:nvSpPr>
        <p:spPr>
          <a:xfrm>
            <a:off x="838200" y="1825625"/>
            <a:ext cx="2681748" cy="4351338"/>
          </a:xfrm>
        </p:spPr>
        <p:txBody>
          <a:bodyPr>
            <a:normAutofit/>
          </a:bodyPr>
          <a:lstStyle/>
          <a:p>
            <a:r>
              <a:rPr lang="en-CH" sz="1800"/>
              <a:t>Conv2d,</a:t>
            </a:r>
            <a:endParaRPr lang="en-US" sz="1800" dirty="0"/>
          </a:p>
          <a:p>
            <a:r>
              <a:rPr lang="en-CH" sz="1800"/>
              <a:t>BatchNorm2d,</a:t>
            </a:r>
            <a:endParaRPr lang="en-US" sz="1800" dirty="0"/>
          </a:p>
          <a:p>
            <a:r>
              <a:rPr lang="en-CH" sz="1800"/>
              <a:t>MaxPool2d </a:t>
            </a:r>
            <a:endParaRPr lang="en-US" sz="1800" dirty="0"/>
          </a:p>
          <a:p>
            <a:r>
              <a:rPr lang="en-CH" sz="1800"/>
              <a:t>MaxUnpool2d</a:t>
            </a:r>
            <a:endParaRPr lang="en-CH" sz="1800" dirty="0"/>
          </a:p>
        </p:txBody>
      </p:sp>
      <p:sp>
        <p:nvSpPr>
          <p:cNvPr id="8" name="文本框 7">
            <a:extLst>
              <a:ext uri="{FF2B5EF4-FFF2-40B4-BE49-F238E27FC236}">
                <a16:creationId xmlns:a16="http://schemas.microsoft.com/office/drawing/2014/main" id="{775095D0-1ED6-DBC8-97A0-8627E0DAF62B}"/>
              </a:ext>
            </a:extLst>
          </p:cNvPr>
          <p:cNvSpPr txBox="1"/>
          <p:nvPr/>
        </p:nvSpPr>
        <p:spPr>
          <a:xfrm>
            <a:off x="5716462" y="5261513"/>
            <a:ext cx="3273169" cy="369332"/>
          </a:xfrm>
          <a:prstGeom prst="rect">
            <a:avLst/>
          </a:prstGeom>
          <a:noFill/>
        </p:spPr>
        <p:txBody>
          <a:bodyPr wrap="square">
            <a:spAutoFit/>
          </a:bodyPr>
          <a:lstStyle/>
          <a:p>
            <a:r>
              <a:rPr lang="en-US" altLang="zh-CN" b="1" dirty="0"/>
              <a:t>Max pooling     Max </a:t>
            </a:r>
            <a:r>
              <a:rPr lang="en-US" altLang="zh-CN" b="1" dirty="0" err="1"/>
              <a:t>Unpooling</a:t>
            </a:r>
            <a:r>
              <a:rPr lang="en-US" altLang="zh-CN" b="1" dirty="0"/>
              <a:t> </a:t>
            </a:r>
            <a:endParaRPr lang="zh-CN" altLang="en-US" b="1" dirty="0"/>
          </a:p>
        </p:txBody>
      </p:sp>
      <p:pic>
        <p:nvPicPr>
          <p:cNvPr id="11" name="图片 10">
            <a:extLst>
              <a:ext uri="{FF2B5EF4-FFF2-40B4-BE49-F238E27FC236}">
                <a16:creationId xmlns:a16="http://schemas.microsoft.com/office/drawing/2014/main" id="{5DD972CE-7860-44B9-E164-88B35BEEF2FE}"/>
              </a:ext>
            </a:extLst>
          </p:cNvPr>
          <p:cNvPicPr>
            <a:picLocks noChangeAspect="1"/>
          </p:cNvPicPr>
          <p:nvPr/>
        </p:nvPicPr>
        <p:blipFill>
          <a:blip r:embed="rId3"/>
          <a:stretch>
            <a:fillRect/>
          </a:stretch>
        </p:blipFill>
        <p:spPr>
          <a:xfrm>
            <a:off x="3367549" y="2732120"/>
            <a:ext cx="7772400" cy="2352607"/>
          </a:xfrm>
          <a:prstGeom prst="rect">
            <a:avLst/>
          </a:prstGeom>
        </p:spPr>
      </p:pic>
      <p:sp>
        <p:nvSpPr>
          <p:cNvPr id="13" name="文本框 12">
            <a:extLst>
              <a:ext uri="{FF2B5EF4-FFF2-40B4-BE49-F238E27FC236}">
                <a16:creationId xmlns:a16="http://schemas.microsoft.com/office/drawing/2014/main" id="{D3881B65-9A73-70AC-636A-10518AF9DB55}"/>
              </a:ext>
            </a:extLst>
          </p:cNvPr>
          <p:cNvSpPr txBox="1"/>
          <p:nvPr/>
        </p:nvSpPr>
        <p:spPr>
          <a:xfrm>
            <a:off x="5716462" y="5630845"/>
            <a:ext cx="3699898" cy="246221"/>
          </a:xfrm>
          <a:prstGeom prst="rect">
            <a:avLst/>
          </a:prstGeom>
          <a:noFill/>
        </p:spPr>
        <p:txBody>
          <a:bodyPr wrap="square">
            <a:spAutoFit/>
          </a:bodyPr>
          <a:lstStyle/>
          <a:p>
            <a:r>
              <a:rPr lang="zh-CN" altLang="en-US" sz="1000" dirty="0"/>
              <a:t>https://blog.csdn.net/hxxjxw/article/details/122911334</a:t>
            </a:r>
          </a:p>
        </p:txBody>
      </p:sp>
      <p:pic>
        <p:nvPicPr>
          <p:cNvPr id="16" name="图片 15">
            <a:extLst>
              <a:ext uri="{FF2B5EF4-FFF2-40B4-BE49-F238E27FC236}">
                <a16:creationId xmlns:a16="http://schemas.microsoft.com/office/drawing/2014/main" id="{E56C9CC8-DB02-B3BD-7DC5-5D64CD713A0F}"/>
              </a:ext>
            </a:extLst>
          </p:cNvPr>
          <p:cNvPicPr>
            <a:picLocks noChangeAspect="1"/>
          </p:cNvPicPr>
          <p:nvPr/>
        </p:nvPicPr>
        <p:blipFill>
          <a:blip r:embed="rId4"/>
          <a:stretch>
            <a:fillRect/>
          </a:stretch>
        </p:blipFill>
        <p:spPr>
          <a:xfrm>
            <a:off x="4689577" y="1328985"/>
            <a:ext cx="6303882" cy="993279"/>
          </a:xfrm>
          <a:prstGeom prst="rect">
            <a:avLst/>
          </a:prstGeom>
        </p:spPr>
      </p:pic>
    </p:spTree>
    <p:extLst>
      <p:ext uri="{BB962C8B-B14F-4D97-AF65-F5344CB8AC3E}">
        <p14:creationId xmlns:p14="http://schemas.microsoft.com/office/powerpoint/2010/main" val="2786810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D9B9-D69A-C84D-B19C-A4C9D99D69FD}"/>
              </a:ext>
            </a:extLst>
          </p:cNvPr>
          <p:cNvSpPr>
            <a:spLocks noGrp="1"/>
          </p:cNvSpPr>
          <p:nvPr>
            <p:ph type="title"/>
          </p:nvPr>
        </p:nvSpPr>
        <p:spPr/>
        <p:txBody>
          <a:bodyPr/>
          <a:lstStyle/>
          <a:p>
            <a:r>
              <a:rPr lang="en-CH" dirty="0"/>
              <a:t>Basic Modules – BatchNorm2d</a:t>
            </a:r>
          </a:p>
        </p:txBody>
      </p:sp>
      <p:pic>
        <p:nvPicPr>
          <p:cNvPr id="5" name="Picture 4" descr="Graphical user interface, text, application, email&#10;&#10;Description automatically generated">
            <a:extLst>
              <a:ext uri="{FF2B5EF4-FFF2-40B4-BE49-F238E27FC236}">
                <a16:creationId xmlns:a16="http://schemas.microsoft.com/office/drawing/2014/main" id="{F86771BD-B81D-4A4E-9716-1DF93E6939DB}"/>
              </a:ext>
            </a:extLst>
          </p:cNvPr>
          <p:cNvPicPr>
            <a:picLocks noChangeAspect="1"/>
          </p:cNvPicPr>
          <p:nvPr/>
        </p:nvPicPr>
        <p:blipFill>
          <a:blip r:embed="rId3"/>
          <a:stretch>
            <a:fillRect/>
          </a:stretch>
        </p:blipFill>
        <p:spPr>
          <a:xfrm>
            <a:off x="1585913" y="1835349"/>
            <a:ext cx="8836024" cy="4970264"/>
          </a:xfrm>
          <a:prstGeom prst="rect">
            <a:avLst/>
          </a:prstGeom>
        </p:spPr>
      </p:pic>
      <p:sp>
        <p:nvSpPr>
          <p:cNvPr id="6" name="Rectangle 5">
            <a:hlinkClick r:id="rId4"/>
            <a:extLst>
              <a:ext uri="{FF2B5EF4-FFF2-40B4-BE49-F238E27FC236}">
                <a16:creationId xmlns:a16="http://schemas.microsoft.com/office/drawing/2014/main" id="{BC505699-45FF-C849-9D94-06B4DF3B2E8D}"/>
              </a:ext>
            </a:extLst>
          </p:cNvPr>
          <p:cNvSpPr/>
          <p:nvPr/>
        </p:nvSpPr>
        <p:spPr>
          <a:xfrm>
            <a:off x="1585913" y="1466017"/>
            <a:ext cx="6938963" cy="369332"/>
          </a:xfrm>
          <a:prstGeom prst="rect">
            <a:avLst/>
          </a:prstGeom>
        </p:spPr>
        <p:txBody>
          <a:bodyPr wrap="square">
            <a:spAutoFit/>
          </a:bodyPr>
          <a:lstStyle/>
          <a:p>
            <a:r>
              <a:rPr lang="en-CH" u="sng" dirty="0">
                <a:solidFill>
                  <a:schemeClr val="accent1"/>
                </a:solidFill>
              </a:rPr>
              <a:t>https://pytorch.org/docs/stable/generated/torch.nn.BatchNorm2d.html</a:t>
            </a:r>
          </a:p>
        </p:txBody>
      </p:sp>
    </p:spTree>
    <p:extLst>
      <p:ext uri="{BB962C8B-B14F-4D97-AF65-F5344CB8AC3E}">
        <p14:creationId xmlns:p14="http://schemas.microsoft.com/office/powerpoint/2010/main" val="386723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D9B9-D69A-C84D-B19C-A4C9D99D69FD}"/>
              </a:ext>
            </a:extLst>
          </p:cNvPr>
          <p:cNvSpPr>
            <a:spLocks noGrp="1"/>
          </p:cNvSpPr>
          <p:nvPr>
            <p:ph type="title"/>
          </p:nvPr>
        </p:nvSpPr>
        <p:spPr/>
        <p:txBody>
          <a:bodyPr/>
          <a:lstStyle/>
          <a:p>
            <a:r>
              <a:rPr lang="en-CH" dirty="0"/>
              <a:t>Basic Modules – MaxUnpool2d</a:t>
            </a:r>
          </a:p>
        </p:txBody>
      </p:sp>
      <p:pic>
        <p:nvPicPr>
          <p:cNvPr id="5" name="Picture 4" descr="Graphical user interface, text, application, email&#10;&#10;Description automatically generated">
            <a:extLst>
              <a:ext uri="{FF2B5EF4-FFF2-40B4-BE49-F238E27FC236}">
                <a16:creationId xmlns:a16="http://schemas.microsoft.com/office/drawing/2014/main" id="{62FE732F-5D3E-5C43-A6F6-54B4F41B3A64}"/>
              </a:ext>
            </a:extLst>
          </p:cNvPr>
          <p:cNvPicPr>
            <a:picLocks noChangeAspect="1"/>
          </p:cNvPicPr>
          <p:nvPr/>
        </p:nvPicPr>
        <p:blipFill>
          <a:blip r:embed="rId3"/>
          <a:stretch>
            <a:fillRect/>
          </a:stretch>
        </p:blipFill>
        <p:spPr>
          <a:xfrm>
            <a:off x="825500" y="3186113"/>
            <a:ext cx="10541000" cy="2628900"/>
          </a:xfrm>
          <a:prstGeom prst="rect">
            <a:avLst/>
          </a:prstGeom>
        </p:spPr>
      </p:pic>
      <p:sp>
        <p:nvSpPr>
          <p:cNvPr id="6" name="Rectangle 5">
            <a:hlinkClick r:id="rId4"/>
            <a:extLst>
              <a:ext uri="{FF2B5EF4-FFF2-40B4-BE49-F238E27FC236}">
                <a16:creationId xmlns:a16="http://schemas.microsoft.com/office/drawing/2014/main" id="{CCF383C0-D554-0748-8A01-AE9D12393130}"/>
              </a:ext>
            </a:extLst>
          </p:cNvPr>
          <p:cNvSpPr/>
          <p:nvPr/>
        </p:nvSpPr>
        <p:spPr>
          <a:xfrm>
            <a:off x="838199" y="1690688"/>
            <a:ext cx="6977063" cy="369332"/>
          </a:xfrm>
          <a:prstGeom prst="rect">
            <a:avLst/>
          </a:prstGeom>
        </p:spPr>
        <p:txBody>
          <a:bodyPr wrap="square">
            <a:spAutoFit/>
          </a:bodyPr>
          <a:lstStyle/>
          <a:p>
            <a:r>
              <a:rPr lang="en-CH" u="sng" dirty="0">
                <a:solidFill>
                  <a:schemeClr val="accent1"/>
                </a:solidFill>
              </a:rPr>
              <a:t>https://pytorch.org/docs/stable/generated/torch.nn.MaxUnpool2d.html</a:t>
            </a:r>
          </a:p>
        </p:txBody>
      </p:sp>
    </p:spTree>
    <p:extLst>
      <p:ext uri="{BB962C8B-B14F-4D97-AF65-F5344CB8AC3E}">
        <p14:creationId xmlns:p14="http://schemas.microsoft.com/office/powerpoint/2010/main" val="309956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B3118A-9F9E-DA3C-D6C3-E2D6C2D92B31}"/>
              </a:ext>
            </a:extLst>
          </p:cNvPr>
          <p:cNvSpPr>
            <a:spLocks noGrp="1"/>
          </p:cNvSpPr>
          <p:nvPr>
            <p:ph type="title"/>
          </p:nvPr>
        </p:nvSpPr>
        <p:spPr>
          <a:xfrm>
            <a:off x="838200" y="365125"/>
            <a:ext cx="1796716" cy="1325563"/>
          </a:xfrm>
        </p:spPr>
        <p:txBody>
          <a:bodyPr/>
          <a:lstStyle/>
          <a:p>
            <a:r>
              <a:rPr kumimoji="1" lang="en-US" altLang="zh-CN" dirty="0"/>
              <a:t>TODO</a:t>
            </a:r>
            <a:endParaRPr kumimoji="1" lang="zh-CN" altLang="en-US" dirty="0"/>
          </a:p>
        </p:txBody>
      </p:sp>
      <p:pic>
        <p:nvPicPr>
          <p:cNvPr id="4" name="内容占位符 3">
            <a:extLst>
              <a:ext uri="{FF2B5EF4-FFF2-40B4-BE49-F238E27FC236}">
                <a16:creationId xmlns:a16="http://schemas.microsoft.com/office/drawing/2014/main" id="{CF32DA62-88E2-85D1-CB7F-9CB734885480}"/>
              </a:ext>
            </a:extLst>
          </p:cNvPr>
          <p:cNvPicPr>
            <a:picLocks noGrp="1" noChangeAspect="1"/>
          </p:cNvPicPr>
          <p:nvPr>
            <p:ph idx="1"/>
          </p:nvPr>
        </p:nvPicPr>
        <p:blipFill>
          <a:blip r:embed="rId2"/>
          <a:stretch>
            <a:fillRect/>
          </a:stretch>
        </p:blipFill>
        <p:spPr>
          <a:xfrm>
            <a:off x="3121955" y="735964"/>
            <a:ext cx="6479339" cy="5883442"/>
          </a:xfrm>
          <a:prstGeom prst="rect">
            <a:avLst/>
          </a:prstGeom>
        </p:spPr>
      </p:pic>
      <p:sp>
        <p:nvSpPr>
          <p:cNvPr id="5" name="矩形 4">
            <a:extLst>
              <a:ext uri="{FF2B5EF4-FFF2-40B4-BE49-F238E27FC236}">
                <a16:creationId xmlns:a16="http://schemas.microsoft.com/office/drawing/2014/main" id="{E5667D51-27E7-ED2A-E86A-BB1B78A563D0}"/>
              </a:ext>
            </a:extLst>
          </p:cNvPr>
          <p:cNvSpPr/>
          <p:nvPr/>
        </p:nvSpPr>
        <p:spPr>
          <a:xfrm>
            <a:off x="3588466" y="1787729"/>
            <a:ext cx="4394545" cy="1767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endParaRPr kumimoji="1" lang="zh-CN" altLang="en-US" b="1">
              <a:ln/>
              <a:solidFill>
                <a:schemeClr val="accent4"/>
              </a:solidFill>
            </a:endParaRPr>
          </a:p>
        </p:txBody>
      </p:sp>
      <p:sp>
        <p:nvSpPr>
          <p:cNvPr id="6" name="矩形 5">
            <a:extLst>
              <a:ext uri="{FF2B5EF4-FFF2-40B4-BE49-F238E27FC236}">
                <a16:creationId xmlns:a16="http://schemas.microsoft.com/office/drawing/2014/main" id="{B29E8B79-7976-9C7B-37EE-6E665B5C5374}"/>
              </a:ext>
            </a:extLst>
          </p:cNvPr>
          <p:cNvSpPr/>
          <p:nvPr/>
        </p:nvSpPr>
        <p:spPr>
          <a:xfrm>
            <a:off x="3588465" y="4211870"/>
            <a:ext cx="4394545" cy="1767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endParaRPr kumimoji="1" lang="zh-CN" altLang="en-US" b="1">
              <a:ln/>
              <a:solidFill>
                <a:schemeClr val="accent4"/>
              </a:solidFill>
            </a:endParaRPr>
          </a:p>
        </p:txBody>
      </p:sp>
      <p:sp>
        <p:nvSpPr>
          <p:cNvPr id="7" name="矩形 6">
            <a:extLst>
              <a:ext uri="{FF2B5EF4-FFF2-40B4-BE49-F238E27FC236}">
                <a16:creationId xmlns:a16="http://schemas.microsoft.com/office/drawing/2014/main" id="{1A015435-6952-FD03-B645-B46949AF7EEE}"/>
              </a:ext>
            </a:extLst>
          </p:cNvPr>
          <p:cNvSpPr/>
          <p:nvPr/>
        </p:nvSpPr>
        <p:spPr>
          <a:xfrm>
            <a:off x="3476172" y="5843337"/>
            <a:ext cx="4394545" cy="1767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endParaRPr kumimoji="1" lang="zh-CN" altLang="en-US" b="1">
              <a:ln/>
              <a:solidFill>
                <a:schemeClr val="accent4"/>
              </a:solidFill>
            </a:endParaRPr>
          </a:p>
        </p:txBody>
      </p:sp>
      <p:sp>
        <p:nvSpPr>
          <p:cNvPr id="8" name="矩形 7">
            <a:extLst>
              <a:ext uri="{FF2B5EF4-FFF2-40B4-BE49-F238E27FC236}">
                <a16:creationId xmlns:a16="http://schemas.microsoft.com/office/drawing/2014/main" id="{F3BE747A-335C-1C99-3544-EF33F8C08AF9}"/>
              </a:ext>
            </a:extLst>
          </p:cNvPr>
          <p:cNvSpPr/>
          <p:nvPr/>
        </p:nvSpPr>
        <p:spPr>
          <a:xfrm>
            <a:off x="3449984" y="6354261"/>
            <a:ext cx="3931449" cy="1767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endParaRPr kumimoji="1" lang="zh-CN" altLang="en-US" b="1">
              <a:ln/>
              <a:solidFill>
                <a:schemeClr val="accent4"/>
              </a:solidFill>
            </a:endParaRPr>
          </a:p>
        </p:txBody>
      </p:sp>
    </p:spTree>
    <p:extLst>
      <p:ext uri="{BB962C8B-B14F-4D97-AF65-F5344CB8AC3E}">
        <p14:creationId xmlns:p14="http://schemas.microsoft.com/office/powerpoint/2010/main" val="4086131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D9B9-D69A-C84D-B19C-A4C9D99D69FD}"/>
              </a:ext>
            </a:extLst>
          </p:cNvPr>
          <p:cNvSpPr>
            <a:spLocks noGrp="1"/>
          </p:cNvSpPr>
          <p:nvPr>
            <p:ph type="title"/>
          </p:nvPr>
        </p:nvSpPr>
        <p:spPr/>
        <p:txBody>
          <a:bodyPr/>
          <a:lstStyle/>
          <a:p>
            <a:r>
              <a:rPr lang="en-CH" dirty="0"/>
              <a:t>Loss – Per-pixel Cross-Entropy Loss</a:t>
            </a:r>
          </a:p>
        </p:txBody>
      </p:sp>
      <p:pic>
        <p:nvPicPr>
          <p:cNvPr id="5" name="Content Placeholder 4">
            <a:extLst>
              <a:ext uri="{FF2B5EF4-FFF2-40B4-BE49-F238E27FC236}">
                <a16:creationId xmlns:a16="http://schemas.microsoft.com/office/drawing/2014/main" id="{E7E459D8-E8D3-1340-BBBE-0A6BB8054DF7}"/>
              </a:ext>
            </a:extLst>
          </p:cNvPr>
          <p:cNvPicPr>
            <a:picLocks noGrp="1" noChangeAspect="1"/>
          </p:cNvPicPr>
          <p:nvPr>
            <p:ph idx="1"/>
          </p:nvPr>
        </p:nvPicPr>
        <p:blipFill>
          <a:blip r:embed="rId3"/>
          <a:stretch>
            <a:fillRect/>
          </a:stretch>
        </p:blipFill>
        <p:spPr>
          <a:xfrm>
            <a:off x="2203989" y="1322554"/>
            <a:ext cx="7784022" cy="5535446"/>
          </a:xfrm>
        </p:spPr>
      </p:pic>
      <p:sp>
        <p:nvSpPr>
          <p:cNvPr id="3" name="Rectangle 2">
            <a:extLst>
              <a:ext uri="{FF2B5EF4-FFF2-40B4-BE49-F238E27FC236}">
                <a16:creationId xmlns:a16="http://schemas.microsoft.com/office/drawing/2014/main" id="{5C7B206E-7C77-5E42-BDEA-2A773AD0C7D8}"/>
              </a:ext>
            </a:extLst>
          </p:cNvPr>
          <p:cNvSpPr/>
          <p:nvPr/>
        </p:nvSpPr>
        <p:spPr>
          <a:xfrm>
            <a:off x="5223933" y="3530600"/>
            <a:ext cx="2861734" cy="13546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dirty="0"/>
          </a:p>
        </p:txBody>
      </p:sp>
    </p:spTree>
    <p:extLst>
      <p:ext uri="{BB962C8B-B14F-4D97-AF65-F5344CB8AC3E}">
        <p14:creationId xmlns:p14="http://schemas.microsoft.com/office/powerpoint/2010/main" val="285677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D9B9-D69A-C84D-B19C-A4C9D99D69FD}"/>
              </a:ext>
            </a:extLst>
          </p:cNvPr>
          <p:cNvSpPr>
            <a:spLocks noGrp="1"/>
          </p:cNvSpPr>
          <p:nvPr>
            <p:ph type="title"/>
          </p:nvPr>
        </p:nvSpPr>
        <p:spPr/>
        <p:txBody>
          <a:bodyPr/>
          <a:lstStyle/>
          <a:p>
            <a:r>
              <a:rPr lang="en-CH" dirty="0"/>
              <a:t>Evaluation Metric – Intersection Over Union</a:t>
            </a:r>
          </a:p>
        </p:txBody>
      </p:sp>
      <p:pic>
        <p:nvPicPr>
          <p:cNvPr id="1028" name="Picture 4">
            <a:extLst>
              <a:ext uri="{FF2B5EF4-FFF2-40B4-BE49-F238E27FC236}">
                <a16:creationId xmlns:a16="http://schemas.microsoft.com/office/drawing/2014/main" id="{51254D32-C639-D249-ADC3-74721F6356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5363" y="1458956"/>
            <a:ext cx="6921274" cy="5399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933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D9B9-D69A-C84D-B19C-A4C9D99D69FD}"/>
              </a:ext>
            </a:extLst>
          </p:cNvPr>
          <p:cNvSpPr>
            <a:spLocks noGrp="1"/>
          </p:cNvSpPr>
          <p:nvPr>
            <p:ph type="title"/>
          </p:nvPr>
        </p:nvSpPr>
        <p:spPr/>
        <p:txBody>
          <a:bodyPr/>
          <a:lstStyle/>
          <a:p>
            <a:r>
              <a:rPr lang="en-CH" dirty="0"/>
              <a:t>SegNet</a:t>
            </a:r>
          </a:p>
        </p:txBody>
      </p:sp>
      <p:sp>
        <p:nvSpPr>
          <p:cNvPr id="3" name="Content Placeholder 2">
            <a:extLst>
              <a:ext uri="{FF2B5EF4-FFF2-40B4-BE49-F238E27FC236}">
                <a16:creationId xmlns:a16="http://schemas.microsoft.com/office/drawing/2014/main" id="{22474A38-9076-4A4E-AB9D-DC44CCECF8E8}"/>
              </a:ext>
            </a:extLst>
          </p:cNvPr>
          <p:cNvSpPr>
            <a:spLocks noGrp="1"/>
          </p:cNvSpPr>
          <p:nvPr>
            <p:ph idx="1"/>
          </p:nvPr>
        </p:nvSpPr>
        <p:spPr/>
        <p:txBody>
          <a:bodyPr/>
          <a:lstStyle/>
          <a:p>
            <a:r>
              <a:rPr lang="en-CH" dirty="0"/>
              <a:t>Dataset – multi-digit MNIST</a:t>
            </a:r>
          </a:p>
        </p:txBody>
      </p:sp>
      <p:pic>
        <p:nvPicPr>
          <p:cNvPr id="6" name="Picture 5" descr="A picture containing text, scissors, clipart&#10;&#10;Description automatically generated">
            <a:extLst>
              <a:ext uri="{FF2B5EF4-FFF2-40B4-BE49-F238E27FC236}">
                <a16:creationId xmlns:a16="http://schemas.microsoft.com/office/drawing/2014/main" id="{CDD43FB2-CCB8-7747-B8C0-C8D04748B517}"/>
              </a:ext>
            </a:extLst>
          </p:cNvPr>
          <p:cNvPicPr>
            <a:picLocks noChangeAspect="1"/>
          </p:cNvPicPr>
          <p:nvPr/>
        </p:nvPicPr>
        <p:blipFill>
          <a:blip r:embed="rId3"/>
          <a:stretch>
            <a:fillRect/>
          </a:stretch>
        </p:blipFill>
        <p:spPr>
          <a:xfrm>
            <a:off x="2187074" y="2717884"/>
            <a:ext cx="2789990" cy="2789990"/>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30E1F7FB-C158-2E4A-B6D0-4924B186496E}"/>
              </a:ext>
            </a:extLst>
          </p:cNvPr>
          <p:cNvPicPr>
            <a:picLocks noChangeAspect="1"/>
          </p:cNvPicPr>
          <p:nvPr/>
        </p:nvPicPr>
        <p:blipFill>
          <a:blip r:embed="rId4"/>
          <a:stretch>
            <a:fillRect/>
          </a:stretch>
        </p:blipFill>
        <p:spPr>
          <a:xfrm>
            <a:off x="7299158" y="2717884"/>
            <a:ext cx="2789990" cy="2789990"/>
          </a:xfrm>
          <a:prstGeom prst="rect">
            <a:avLst/>
          </a:prstGeom>
        </p:spPr>
      </p:pic>
      <p:sp>
        <p:nvSpPr>
          <p:cNvPr id="9" name="TextBox 8">
            <a:extLst>
              <a:ext uri="{FF2B5EF4-FFF2-40B4-BE49-F238E27FC236}">
                <a16:creationId xmlns:a16="http://schemas.microsoft.com/office/drawing/2014/main" id="{B6EF6BCA-2F04-DA4C-8AA3-7A14D820F9F2}"/>
              </a:ext>
            </a:extLst>
          </p:cNvPr>
          <p:cNvSpPr txBox="1"/>
          <p:nvPr/>
        </p:nvSpPr>
        <p:spPr>
          <a:xfrm>
            <a:off x="2544926" y="5642811"/>
            <a:ext cx="2074286" cy="369332"/>
          </a:xfrm>
          <a:prstGeom prst="rect">
            <a:avLst/>
          </a:prstGeom>
          <a:noFill/>
        </p:spPr>
        <p:txBody>
          <a:bodyPr wrap="none" rtlCol="0">
            <a:spAutoFit/>
          </a:bodyPr>
          <a:lstStyle/>
          <a:p>
            <a:r>
              <a:rPr lang="en-CH" dirty="0"/>
              <a:t>Input Image (64x64)</a:t>
            </a:r>
          </a:p>
        </p:txBody>
      </p:sp>
      <p:sp>
        <p:nvSpPr>
          <p:cNvPr id="10" name="TextBox 9">
            <a:extLst>
              <a:ext uri="{FF2B5EF4-FFF2-40B4-BE49-F238E27FC236}">
                <a16:creationId xmlns:a16="http://schemas.microsoft.com/office/drawing/2014/main" id="{52502BF0-290F-BC4D-9260-B02C5A292B03}"/>
              </a:ext>
            </a:extLst>
          </p:cNvPr>
          <p:cNvSpPr txBox="1"/>
          <p:nvPr/>
        </p:nvSpPr>
        <p:spPr>
          <a:xfrm>
            <a:off x="8270772" y="5657752"/>
            <a:ext cx="1082797" cy="369332"/>
          </a:xfrm>
          <a:prstGeom prst="rect">
            <a:avLst/>
          </a:prstGeom>
          <a:noFill/>
        </p:spPr>
        <p:txBody>
          <a:bodyPr wrap="none" rtlCol="0">
            <a:spAutoFit/>
          </a:bodyPr>
          <a:lstStyle/>
          <a:p>
            <a:r>
              <a:rPr lang="en-CH" dirty="0"/>
              <a:t>GT Labels</a:t>
            </a:r>
          </a:p>
        </p:txBody>
      </p:sp>
    </p:spTree>
    <p:extLst>
      <p:ext uri="{BB962C8B-B14F-4D97-AF65-F5344CB8AC3E}">
        <p14:creationId xmlns:p14="http://schemas.microsoft.com/office/powerpoint/2010/main" val="3554714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106C0A-AE71-51EC-1C7F-F7634B7D8730}"/>
              </a:ext>
            </a:extLst>
          </p:cNvPr>
          <p:cNvSpPr>
            <a:spLocks noGrp="1"/>
          </p:cNvSpPr>
          <p:nvPr>
            <p:ph type="title"/>
          </p:nvPr>
        </p:nvSpPr>
        <p:spPr/>
        <p:txBody>
          <a:bodyPr/>
          <a:lstStyle/>
          <a:p>
            <a:r>
              <a:rPr kumimoji="1" lang="en-US" altLang="zh-CN" dirty="0"/>
              <a:t>Visualization</a:t>
            </a:r>
            <a:endParaRPr kumimoji="1" lang="zh-CN" altLang="en-US" dirty="0"/>
          </a:p>
        </p:txBody>
      </p:sp>
      <p:pic>
        <p:nvPicPr>
          <p:cNvPr id="4" name="内容占位符 3">
            <a:extLst>
              <a:ext uri="{FF2B5EF4-FFF2-40B4-BE49-F238E27FC236}">
                <a16:creationId xmlns:a16="http://schemas.microsoft.com/office/drawing/2014/main" id="{C50A0AF1-9A07-8C4F-56F3-D3D8FC04D1B3}"/>
              </a:ext>
            </a:extLst>
          </p:cNvPr>
          <p:cNvPicPr>
            <a:picLocks noGrp="1" noChangeAspect="1"/>
          </p:cNvPicPr>
          <p:nvPr>
            <p:ph idx="1"/>
          </p:nvPr>
        </p:nvPicPr>
        <p:blipFill>
          <a:blip r:embed="rId3"/>
          <a:stretch>
            <a:fillRect/>
          </a:stretch>
        </p:blipFill>
        <p:spPr>
          <a:xfrm>
            <a:off x="838200" y="2213989"/>
            <a:ext cx="10515600" cy="3574609"/>
          </a:xfrm>
          <a:prstGeom prst="rect">
            <a:avLst/>
          </a:prstGeom>
        </p:spPr>
      </p:pic>
    </p:spTree>
    <p:extLst>
      <p:ext uri="{BB962C8B-B14F-4D97-AF65-F5344CB8AC3E}">
        <p14:creationId xmlns:p14="http://schemas.microsoft.com/office/powerpoint/2010/main" val="3884020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701</TotalTime>
  <Words>627</Words>
  <Application>Microsoft Macintosh PowerPoint</Application>
  <PresentationFormat>宽屏</PresentationFormat>
  <Paragraphs>56</Paragraphs>
  <Slides>12</Slides>
  <Notes>11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Arial</vt:lpstr>
      <vt:lpstr>Calibri</vt:lpstr>
      <vt:lpstr>Calibri Light</vt:lpstr>
      <vt:lpstr>Office Theme</vt:lpstr>
      <vt:lpstr>Image Segmentation</vt:lpstr>
      <vt:lpstr>SegNet – From the Lecture</vt:lpstr>
      <vt:lpstr>SegNet – Simplified Version</vt:lpstr>
      <vt:lpstr>Basic Modules</vt:lpstr>
      <vt:lpstr>Basic Modules</vt:lpstr>
      <vt:lpstr>Basic Modules – BatchNorm2d</vt:lpstr>
      <vt:lpstr>Basic Modules – MaxUnpool2d</vt:lpstr>
      <vt:lpstr>TODO</vt:lpstr>
      <vt:lpstr>Loss – Per-pixel Cross-Entropy Loss</vt:lpstr>
      <vt:lpstr>Evaluation Metric – Intersection Over Union</vt:lpstr>
      <vt:lpstr>SegNet</vt:lpstr>
      <vt:lpstr>Visualization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Segmentation</dc:title>
  <dc:creator>Wang  Shaofei</dc:creator>
  <cp:lastModifiedBy>Microsoft Office User</cp:lastModifiedBy>
  <cp:revision>30</cp:revision>
  <dcterms:created xsi:type="dcterms:W3CDTF">2021-10-15T15:30:11Z</dcterms:created>
  <dcterms:modified xsi:type="dcterms:W3CDTF">2025-12-30T15:16:54Z</dcterms:modified>
</cp:coreProperties>
</file>