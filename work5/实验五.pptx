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61" r:id="rId5"/>
    <p:sldId id="260" r:id="rId6"/>
    <p:sldId id="259"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79"/>
    <p:restoredTop sz="94694"/>
  </p:normalViewPr>
  <p:slideViewPr>
    <p:cSldViewPr snapToGrid="0">
      <p:cViewPr varScale="1">
        <p:scale>
          <a:sx n="121" d="100"/>
          <a:sy n="121" d="100"/>
        </p:scale>
        <p:origin x="37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2D2A4C-E466-4D46-BE04-85D6C43D512C}" type="datetimeFigureOut">
              <a:rPr kumimoji="1" lang="zh-CN" altLang="en-US" smtClean="0"/>
              <a:t>2025/12/3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EE0393-731E-6A40-84A7-701A88D52213}" type="slidenum">
              <a:rPr kumimoji="1" lang="zh-CN" altLang="en-US" smtClean="0"/>
              <a:t>‹#›</a:t>
            </a:fld>
            <a:endParaRPr kumimoji="1" lang="zh-CN" altLang="en-US"/>
          </a:p>
        </p:txBody>
      </p:sp>
    </p:spTree>
    <p:extLst>
      <p:ext uri="{BB962C8B-B14F-4D97-AF65-F5344CB8AC3E}">
        <p14:creationId xmlns:p14="http://schemas.microsoft.com/office/powerpoint/2010/main" val="3461017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9EE0393-731E-6A40-84A7-701A88D52213}" type="slidenum">
              <a:rPr kumimoji="1" lang="zh-CN" altLang="en-US" smtClean="0"/>
              <a:t>1</a:t>
            </a:fld>
            <a:endParaRPr kumimoji="1" lang="zh-CN" altLang="en-US"/>
          </a:p>
        </p:txBody>
      </p:sp>
    </p:spTree>
    <p:extLst>
      <p:ext uri="{BB962C8B-B14F-4D97-AF65-F5344CB8AC3E}">
        <p14:creationId xmlns:p14="http://schemas.microsoft.com/office/powerpoint/2010/main" val="3454704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CC0D9F-CAAA-8D21-FEE4-B3B45F504CA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F3242E82-A2B2-C140-4A73-F421901705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CB77CAF-3241-CAAA-54D0-08C583EF449F}"/>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5" name="页脚占位符 4">
            <a:extLst>
              <a:ext uri="{FF2B5EF4-FFF2-40B4-BE49-F238E27FC236}">
                <a16:creationId xmlns:a16="http://schemas.microsoft.com/office/drawing/2014/main" id="{4BA89BA6-47EC-7AD8-9429-3FECEE645E6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AE71F7B-A8D1-92F1-EFFD-15101F600622}"/>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1022615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65BD1B-C705-3A5B-B602-3BBCE375851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45F0F352-1ECB-A43C-016D-BCCD6A8091D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FF7B231-4CFB-2F44-A9EE-39CD124049AF}"/>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5" name="页脚占位符 4">
            <a:extLst>
              <a:ext uri="{FF2B5EF4-FFF2-40B4-BE49-F238E27FC236}">
                <a16:creationId xmlns:a16="http://schemas.microsoft.com/office/drawing/2014/main" id="{819C1E68-7C47-962E-2C12-9501456388F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F2C936A-FAB4-1DD4-93A6-EA56CD38804D}"/>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209510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931BB0-2DA7-984D-B384-9FF41F8EA10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6F6B059-059D-510D-63DA-B3173238ED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F43E3088-599D-3366-3804-830846817360}"/>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5" name="页脚占位符 4">
            <a:extLst>
              <a:ext uri="{FF2B5EF4-FFF2-40B4-BE49-F238E27FC236}">
                <a16:creationId xmlns:a16="http://schemas.microsoft.com/office/drawing/2014/main" id="{830E9B55-336C-E2DB-9550-7235837886B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B318A67-9847-E194-B5B9-785DAF2DBEEE}"/>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1036068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7517F0-1174-990D-8809-C92ECA1CB9B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C79D6E9C-0B2E-360E-5267-28E0435C7CDF}"/>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C6B4783-029D-C112-F6CA-0DB8A557CF0E}"/>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4C1ABB1-FAEA-46D5-5262-6C131412D67A}"/>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6" name="页脚占位符 5">
            <a:extLst>
              <a:ext uri="{FF2B5EF4-FFF2-40B4-BE49-F238E27FC236}">
                <a16:creationId xmlns:a16="http://schemas.microsoft.com/office/drawing/2014/main" id="{19CB4D85-3980-84E2-B46A-937B3E226FE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2B29306-FC9A-F9F2-472E-AC6B55878FF9}"/>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4021884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AA99A-F037-791D-8CFE-3C8DA7C4C10F}"/>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C212AF9-62D0-9B03-D5FA-D9D0F53739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5A0C5DC-D009-BB05-CD0E-1A67ED526820}"/>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CEDF4832-D79F-361A-6CB8-5F4073FBAF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571EEB6B-FF5C-30EC-D6B0-01229D83F55E}"/>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48681291-E986-749C-D418-5AFF669371C4}"/>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8" name="页脚占位符 7">
            <a:extLst>
              <a:ext uri="{FF2B5EF4-FFF2-40B4-BE49-F238E27FC236}">
                <a16:creationId xmlns:a16="http://schemas.microsoft.com/office/drawing/2014/main" id="{F7EF3501-29B1-C028-5B44-6E95C268CEB8}"/>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C0B165B-5185-AF0F-DB2C-3E55E57DFD92}"/>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264013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626FEE-1477-324C-7253-997BC126CDCC}"/>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793138BA-5639-F8D0-8827-4C76B18E2D56}"/>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4" name="页脚占位符 3">
            <a:extLst>
              <a:ext uri="{FF2B5EF4-FFF2-40B4-BE49-F238E27FC236}">
                <a16:creationId xmlns:a16="http://schemas.microsoft.com/office/drawing/2014/main" id="{B77E56EA-E077-E7CA-5C94-AE3161D3DA2E}"/>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9EBA5CEA-A227-9F05-D3BD-9457916DBF7E}"/>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1888069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D1F3B09-AF36-E175-DF03-13DD2A1C599A}"/>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3" name="页脚占位符 2">
            <a:extLst>
              <a:ext uri="{FF2B5EF4-FFF2-40B4-BE49-F238E27FC236}">
                <a16:creationId xmlns:a16="http://schemas.microsoft.com/office/drawing/2014/main" id="{F4FAFA97-3BD1-EC65-41CE-A05B74AF3BEC}"/>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453B470C-14DD-ABF2-5AC4-12B6DBAE2BEA}"/>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935484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E36DB8-A716-D583-9FC1-A21AA09EAA43}"/>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4C230E8-40AA-6B13-93BE-856BE44CE1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CBA04282-11DA-3B96-03AF-7173A2DF31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7594BDD-CC26-83EE-CABB-E5684B26D800}"/>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6" name="页脚占位符 5">
            <a:extLst>
              <a:ext uri="{FF2B5EF4-FFF2-40B4-BE49-F238E27FC236}">
                <a16:creationId xmlns:a16="http://schemas.microsoft.com/office/drawing/2014/main" id="{89E36CBB-E752-7EB1-A704-7226E92CEFC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4F7C165-7B2A-59C6-4BB8-C8F569AA1D90}"/>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977586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98B5B1-7F26-B730-4AB5-D95EE944BB2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F2285B4-55C0-C1AC-C42E-FD8B94E75D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FBD2EF9F-500E-33C6-228C-3E7F25034F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9D0359D-72AF-D4EA-1C87-1EE1E2530C8D}"/>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6" name="页脚占位符 5">
            <a:extLst>
              <a:ext uri="{FF2B5EF4-FFF2-40B4-BE49-F238E27FC236}">
                <a16:creationId xmlns:a16="http://schemas.microsoft.com/office/drawing/2014/main" id="{75EAC8D2-1FEA-EB4B-4DA0-C33F0800850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5796AA0-ED32-3B7B-86DF-B5369AE1B435}"/>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4003773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7A81C-42BB-63C3-0886-9B7488D41A8D}"/>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3555F94-24AE-002E-8B1E-8EF93AE66275}"/>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1E44BE9-40FA-6CA4-1AEA-C12A72E2F103}"/>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5" name="页脚占位符 4">
            <a:extLst>
              <a:ext uri="{FF2B5EF4-FFF2-40B4-BE49-F238E27FC236}">
                <a16:creationId xmlns:a16="http://schemas.microsoft.com/office/drawing/2014/main" id="{0799B88F-763B-FE18-88FF-4800AF94B4D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9A740A0-D22E-B85C-08CD-B017AC9A13D5}"/>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1881575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DD16E08-1830-BD83-B56E-2527A606D90A}"/>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C22F1F4-AA21-24BC-9CF2-3E2FE9E59C02}"/>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3836562-02A0-070C-3696-982169BBCF11}"/>
              </a:ext>
            </a:extLst>
          </p:cNvPr>
          <p:cNvSpPr>
            <a:spLocks noGrp="1"/>
          </p:cNvSpPr>
          <p:nvPr>
            <p:ph type="dt" sz="half" idx="10"/>
          </p:nvPr>
        </p:nvSpPr>
        <p:spPr/>
        <p:txBody>
          <a:bodyPr/>
          <a:lstStyle/>
          <a:p>
            <a:fld id="{C0234344-1760-9C43-867D-206756A74F33}" type="datetimeFigureOut">
              <a:rPr kumimoji="1" lang="zh-CN" altLang="en-US" smtClean="0"/>
              <a:t>2025/12/3</a:t>
            </a:fld>
            <a:endParaRPr kumimoji="1" lang="zh-CN" altLang="en-US"/>
          </a:p>
        </p:txBody>
      </p:sp>
      <p:sp>
        <p:nvSpPr>
          <p:cNvPr id="5" name="页脚占位符 4">
            <a:extLst>
              <a:ext uri="{FF2B5EF4-FFF2-40B4-BE49-F238E27FC236}">
                <a16:creationId xmlns:a16="http://schemas.microsoft.com/office/drawing/2014/main" id="{E3D02014-736A-C136-B3FF-19D3E4345D0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5784BC-04C8-2072-3E93-8E948C1AC3E6}"/>
              </a:ext>
            </a:extLst>
          </p:cNvPr>
          <p:cNvSpPr>
            <a:spLocks noGrp="1"/>
          </p:cNvSpPr>
          <p:nvPr>
            <p:ph type="sldNum" sz="quarter" idx="12"/>
          </p:nvPr>
        </p:nvSpPr>
        <p:spPr/>
        <p:txBody>
          <a:body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139552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6C2D045-5883-FB31-0AC6-353F6E7EEC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59EE4B6-57D6-15F9-D701-503DFBE9D6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EFCD8D3-C3B6-87D0-5C46-0FBE6357EF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234344-1760-9C43-867D-206756A74F33}" type="datetimeFigureOut">
              <a:rPr kumimoji="1" lang="zh-CN" altLang="en-US" smtClean="0"/>
              <a:t>2025/12/3</a:t>
            </a:fld>
            <a:endParaRPr kumimoji="1" lang="zh-CN" altLang="en-US"/>
          </a:p>
        </p:txBody>
      </p:sp>
      <p:sp>
        <p:nvSpPr>
          <p:cNvPr id="5" name="页脚占位符 4">
            <a:extLst>
              <a:ext uri="{FF2B5EF4-FFF2-40B4-BE49-F238E27FC236}">
                <a16:creationId xmlns:a16="http://schemas.microsoft.com/office/drawing/2014/main" id="{6641A3B5-5D29-9100-4CB7-6306D85253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52BE1E99-49C7-4951-CA70-BD977EEA26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DC134-C0B3-6245-A454-76BC838222FF}" type="slidenum">
              <a:rPr kumimoji="1" lang="zh-CN" altLang="en-US" smtClean="0"/>
              <a:t>‹#›</a:t>
            </a:fld>
            <a:endParaRPr kumimoji="1" lang="zh-CN" altLang="en-US"/>
          </a:p>
        </p:txBody>
      </p:sp>
    </p:spTree>
    <p:extLst>
      <p:ext uri="{BB962C8B-B14F-4D97-AF65-F5344CB8AC3E}">
        <p14:creationId xmlns:p14="http://schemas.microsoft.com/office/powerpoint/2010/main" val="236980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9F359-9572-1B08-5512-655327215DDA}"/>
              </a:ext>
            </a:extLst>
          </p:cNvPr>
          <p:cNvSpPr>
            <a:spLocks noGrp="1"/>
          </p:cNvSpPr>
          <p:nvPr>
            <p:ph type="ctrTitle"/>
          </p:nvPr>
        </p:nvSpPr>
        <p:spPr>
          <a:xfrm>
            <a:off x="1524000" y="1122363"/>
            <a:ext cx="9144000" cy="1156603"/>
          </a:xfrm>
        </p:spPr>
        <p:txBody>
          <a:bodyPr/>
          <a:lstStyle/>
          <a:p>
            <a:r>
              <a:rPr kumimoji="1" lang="zh-CN" altLang="en-US" dirty="0"/>
              <a:t>实验五</a:t>
            </a:r>
            <a:r>
              <a:rPr kumimoji="1" lang="en-US" altLang="zh-CN" dirty="0"/>
              <a:t>-</a:t>
            </a:r>
            <a:r>
              <a:rPr kumimoji="1" lang="zh-CN" altLang="en-US" dirty="0"/>
              <a:t>聚类分析</a:t>
            </a:r>
          </a:p>
        </p:txBody>
      </p:sp>
      <p:pic>
        <p:nvPicPr>
          <p:cNvPr id="5" name="图片 4">
            <a:extLst>
              <a:ext uri="{FF2B5EF4-FFF2-40B4-BE49-F238E27FC236}">
                <a16:creationId xmlns:a16="http://schemas.microsoft.com/office/drawing/2014/main" id="{35CD2415-3E73-317D-2283-A36C0EEFC85C}"/>
              </a:ext>
            </a:extLst>
          </p:cNvPr>
          <p:cNvPicPr>
            <a:picLocks noChangeAspect="1"/>
          </p:cNvPicPr>
          <p:nvPr/>
        </p:nvPicPr>
        <p:blipFill>
          <a:blip r:embed="rId3"/>
          <a:stretch>
            <a:fillRect/>
          </a:stretch>
        </p:blipFill>
        <p:spPr>
          <a:xfrm>
            <a:off x="6313371" y="2729132"/>
            <a:ext cx="4486441" cy="3695646"/>
          </a:xfrm>
          <a:prstGeom prst="rect">
            <a:avLst/>
          </a:prstGeom>
        </p:spPr>
      </p:pic>
      <p:pic>
        <p:nvPicPr>
          <p:cNvPr id="6" name="图片 5">
            <a:extLst>
              <a:ext uri="{FF2B5EF4-FFF2-40B4-BE49-F238E27FC236}">
                <a16:creationId xmlns:a16="http://schemas.microsoft.com/office/drawing/2014/main" id="{026AB5CB-78C4-E7CC-A95C-2D9986D7C56A}"/>
              </a:ext>
            </a:extLst>
          </p:cNvPr>
          <p:cNvPicPr>
            <a:picLocks noChangeAspect="1"/>
          </p:cNvPicPr>
          <p:nvPr/>
        </p:nvPicPr>
        <p:blipFill>
          <a:blip r:embed="rId4"/>
          <a:stretch>
            <a:fillRect/>
          </a:stretch>
        </p:blipFill>
        <p:spPr>
          <a:xfrm>
            <a:off x="1455452" y="2731212"/>
            <a:ext cx="4423177" cy="3695646"/>
          </a:xfrm>
          <a:prstGeom prst="rect">
            <a:avLst/>
          </a:prstGeom>
        </p:spPr>
      </p:pic>
    </p:spTree>
    <p:extLst>
      <p:ext uri="{BB962C8B-B14F-4D97-AF65-F5344CB8AC3E}">
        <p14:creationId xmlns:p14="http://schemas.microsoft.com/office/powerpoint/2010/main" val="540334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D2E5495-2769-FA92-2D83-6A5E60F24920}"/>
              </a:ext>
            </a:extLst>
          </p:cNvPr>
          <p:cNvPicPr>
            <a:picLocks noChangeAspect="1"/>
          </p:cNvPicPr>
          <p:nvPr/>
        </p:nvPicPr>
        <p:blipFill>
          <a:blip r:embed="rId2"/>
          <a:stretch>
            <a:fillRect/>
          </a:stretch>
        </p:blipFill>
        <p:spPr>
          <a:xfrm>
            <a:off x="6873095" y="1050500"/>
            <a:ext cx="4772933" cy="3718447"/>
          </a:xfrm>
          <a:prstGeom prst="rect">
            <a:avLst/>
          </a:prstGeom>
        </p:spPr>
      </p:pic>
      <p:sp>
        <p:nvSpPr>
          <p:cNvPr id="12" name="文本框 11">
            <a:extLst>
              <a:ext uri="{FF2B5EF4-FFF2-40B4-BE49-F238E27FC236}">
                <a16:creationId xmlns:a16="http://schemas.microsoft.com/office/drawing/2014/main" id="{2CED9CD9-8E15-15EA-0146-4F02B323C5FE}"/>
              </a:ext>
            </a:extLst>
          </p:cNvPr>
          <p:cNvSpPr txBox="1"/>
          <p:nvPr/>
        </p:nvSpPr>
        <p:spPr>
          <a:xfrm>
            <a:off x="374650" y="3751498"/>
            <a:ext cx="5983947" cy="1200329"/>
          </a:xfrm>
          <a:prstGeom prst="rect">
            <a:avLst/>
          </a:prstGeom>
          <a:noFill/>
        </p:spPr>
        <p:txBody>
          <a:bodyPr wrap="square">
            <a:spAutoFit/>
          </a:bodyPr>
          <a:lstStyle/>
          <a:p>
            <a:r>
              <a:rPr lang="zh-CN" altLang="en-US" dirty="0"/>
              <a:t>聚类特点： 这种连接方式倾向于形成链状 (Chaining Effect) 的、不规则形状的聚类。只要两个集群中有一对点非常接近，它们就会被合并，即使集群的大部分区域相距甚远。这使其能够很好地发现非球形（Non-Globular）的集群。</a:t>
            </a:r>
          </a:p>
        </p:txBody>
      </p:sp>
      <p:sp>
        <p:nvSpPr>
          <p:cNvPr id="14" name="文本框 13">
            <a:extLst>
              <a:ext uri="{FF2B5EF4-FFF2-40B4-BE49-F238E27FC236}">
                <a16:creationId xmlns:a16="http://schemas.microsoft.com/office/drawing/2014/main" id="{19B7707E-9E07-BE84-FB63-0B880745AF24}"/>
              </a:ext>
            </a:extLst>
          </p:cNvPr>
          <p:cNvSpPr txBox="1"/>
          <p:nvPr/>
        </p:nvSpPr>
        <p:spPr>
          <a:xfrm>
            <a:off x="374650" y="1050501"/>
            <a:ext cx="5843270" cy="677108"/>
          </a:xfrm>
          <a:prstGeom prst="rect">
            <a:avLst/>
          </a:prstGeom>
          <a:noFill/>
        </p:spPr>
        <p:txBody>
          <a:bodyPr wrap="square">
            <a:spAutoFit/>
          </a:bodyPr>
          <a:lstStyle/>
          <a:p>
            <a:r>
              <a:rPr lang="zh-CN" altLang="en-US" sz="2000" b="1" dirty="0"/>
              <a:t>Single-Linkage</a:t>
            </a:r>
            <a:r>
              <a:rPr lang="zh-CN" altLang="en-US" dirty="0"/>
              <a:t>定义两个集群之间的距离为两个聚类中最接近的样本点之间的最小距离。</a:t>
            </a:r>
          </a:p>
        </p:txBody>
      </p:sp>
      <p:pic>
        <p:nvPicPr>
          <p:cNvPr id="16" name="图片 15">
            <a:extLst>
              <a:ext uri="{FF2B5EF4-FFF2-40B4-BE49-F238E27FC236}">
                <a16:creationId xmlns:a16="http://schemas.microsoft.com/office/drawing/2014/main" id="{A9EFDCB1-C668-032F-0519-5B354F10DF26}"/>
              </a:ext>
            </a:extLst>
          </p:cNvPr>
          <p:cNvPicPr>
            <a:picLocks noChangeAspect="1"/>
          </p:cNvPicPr>
          <p:nvPr/>
        </p:nvPicPr>
        <p:blipFill>
          <a:blip r:embed="rId3"/>
          <a:srcRect l="1532" t="12863"/>
          <a:stretch>
            <a:fillRect/>
          </a:stretch>
        </p:blipFill>
        <p:spPr>
          <a:xfrm>
            <a:off x="1589648" y="2586012"/>
            <a:ext cx="3310169" cy="677107"/>
          </a:xfrm>
          <a:prstGeom prst="rect">
            <a:avLst/>
          </a:prstGeom>
        </p:spPr>
      </p:pic>
    </p:spTree>
    <p:extLst>
      <p:ext uri="{BB962C8B-B14F-4D97-AF65-F5344CB8AC3E}">
        <p14:creationId xmlns:p14="http://schemas.microsoft.com/office/powerpoint/2010/main" val="1464498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E179EEB1-EC07-38DA-DF8B-EEEFC2335516}"/>
              </a:ext>
            </a:extLst>
          </p:cNvPr>
          <p:cNvSpPr txBox="1"/>
          <p:nvPr/>
        </p:nvSpPr>
        <p:spPr>
          <a:xfrm>
            <a:off x="604911" y="1087986"/>
            <a:ext cx="6096000" cy="677108"/>
          </a:xfrm>
          <a:prstGeom prst="rect">
            <a:avLst/>
          </a:prstGeom>
          <a:noFill/>
        </p:spPr>
        <p:txBody>
          <a:bodyPr wrap="square">
            <a:spAutoFit/>
          </a:bodyPr>
          <a:lstStyle/>
          <a:p>
            <a:r>
              <a:rPr lang="zh-CN" altLang="en-US" sz="2000" b="1" dirty="0"/>
              <a:t>Complete-Linkage </a:t>
            </a:r>
            <a:r>
              <a:rPr lang="zh-CN" altLang="en-US" dirty="0"/>
              <a:t>最大距离连接，两个集群中最遥远的样本点之间的最大距离。</a:t>
            </a:r>
          </a:p>
        </p:txBody>
      </p:sp>
      <p:pic>
        <p:nvPicPr>
          <p:cNvPr id="7" name="图片 6">
            <a:extLst>
              <a:ext uri="{FF2B5EF4-FFF2-40B4-BE49-F238E27FC236}">
                <a16:creationId xmlns:a16="http://schemas.microsoft.com/office/drawing/2014/main" id="{1758CDD8-FA4D-AD7F-61F6-7D85EC8D56B9}"/>
              </a:ext>
            </a:extLst>
          </p:cNvPr>
          <p:cNvPicPr>
            <a:picLocks noChangeAspect="1"/>
          </p:cNvPicPr>
          <p:nvPr/>
        </p:nvPicPr>
        <p:blipFill>
          <a:blip r:embed="rId2"/>
          <a:stretch>
            <a:fillRect/>
          </a:stretch>
        </p:blipFill>
        <p:spPr>
          <a:xfrm>
            <a:off x="1710689" y="2311009"/>
            <a:ext cx="3370921" cy="872079"/>
          </a:xfrm>
          <a:prstGeom prst="rect">
            <a:avLst/>
          </a:prstGeom>
        </p:spPr>
      </p:pic>
      <p:sp>
        <p:nvSpPr>
          <p:cNvPr id="11" name="文本框 10">
            <a:extLst>
              <a:ext uri="{FF2B5EF4-FFF2-40B4-BE49-F238E27FC236}">
                <a16:creationId xmlns:a16="http://schemas.microsoft.com/office/drawing/2014/main" id="{E7BC04A1-C45D-5917-EB6F-F5ECB5D025D8}"/>
              </a:ext>
            </a:extLst>
          </p:cNvPr>
          <p:cNvSpPr txBox="1"/>
          <p:nvPr/>
        </p:nvSpPr>
        <p:spPr>
          <a:xfrm>
            <a:off x="602567" y="3674912"/>
            <a:ext cx="6098344" cy="923330"/>
          </a:xfrm>
          <a:prstGeom prst="rect">
            <a:avLst/>
          </a:prstGeom>
          <a:noFill/>
        </p:spPr>
        <p:txBody>
          <a:bodyPr wrap="square">
            <a:spAutoFit/>
          </a:bodyPr>
          <a:lstStyle/>
          <a:p>
            <a:r>
              <a:rPr lang="zh-CN" altLang="en-US" dirty="0"/>
              <a:t>聚类特点： 这种连接方式强制要求聚类中的所有点都必须在最大距离内彼此接近。因此，它倾向于形成紧密、球形 (Compact/Globular) 的集群。</a:t>
            </a:r>
          </a:p>
        </p:txBody>
      </p:sp>
      <p:pic>
        <p:nvPicPr>
          <p:cNvPr id="14" name="图片 13">
            <a:extLst>
              <a:ext uri="{FF2B5EF4-FFF2-40B4-BE49-F238E27FC236}">
                <a16:creationId xmlns:a16="http://schemas.microsoft.com/office/drawing/2014/main" id="{DC76F484-3F83-450D-8B46-0EC0D84487C0}"/>
              </a:ext>
            </a:extLst>
          </p:cNvPr>
          <p:cNvPicPr>
            <a:picLocks noChangeAspect="1"/>
          </p:cNvPicPr>
          <p:nvPr/>
        </p:nvPicPr>
        <p:blipFill>
          <a:blip r:embed="rId3"/>
          <a:stretch>
            <a:fillRect/>
          </a:stretch>
        </p:blipFill>
        <p:spPr>
          <a:xfrm>
            <a:off x="7010400" y="1087985"/>
            <a:ext cx="4707987" cy="3933609"/>
          </a:xfrm>
          <a:prstGeom prst="rect">
            <a:avLst/>
          </a:prstGeom>
        </p:spPr>
      </p:pic>
    </p:spTree>
    <p:extLst>
      <p:ext uri="{BB962C8B-B14F-4D97-AF65-F5344CB8AC3E}">
        <p14:creationId xmlns:p14="http://schemas.microsoft.com/office/powerpoint/2010/main" val="675710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7DBBD54E-0093-8EAA-9BE4-6AB173991D4D}"/>
              </a:ext>
            </a:extLst>
          </p:cNvPr>
          <p:cNvSpPr>
            <a:spLocks noGrp="1"/>
          </p:cNvSpPr>
          <p:nvPr>
            <p:ph idx="1"/>
          </p:nvPr>
        </p:nvSpPr>
        <p:spPr>
          <a:xfrm>
            <a:off x="584982" y="1206647"/>
            <a:ext cx="5872089" cy="1241132"/>
          </a:xfrm>
        </p:spPr>
        <p:txBody>
          <a:bodyPr>
            <a:normAutofit/>
          </a:bodyPr>
          <a:lstStyle/>
          <a:p>
            <a:pPr marL="0" indent="0">
              <a:buNone/>
            </a:pPr>
            <a:r>
              <a:rPr lang="en" altLang="zh-CN" sz="2000" b="1" dirty="0"/>
              <a:t>Average-Linkage</a:t>
            </a:r>
            <a:r>
              <a:rPr lang="zh-CN" altLang="en" sz="1800" dirty="0"/>
              <a:t>（</a:t>
            </a:r>
            <a:r>
              <a:rPr lang="zh-CN" altLang="en-US" sz="1800" dirty="0"/>
              <a:t>定义两个集群之间的距离为</a:t>
            </a:r>
            <a:r>
              <a:rPr lang="zh-CN" altLang="en-US" sz="1800"/>
              <a:t>两个聚类中</a:t>
            </a:r>
            <a:r>
              <a:rPr lang="zh-CN" altLang="en-US" sz="1800" dirty="0"/>
              <a:t>所有样本点对之间的平均距离。</a:t>
            </a:r>
          </a:p>
        </p:txBody>
      </p:sp>
      <p:sp>
        <p:nvSpPr>
          <p:cNvPr id="8" name="文本框 7">
            <a:extLst>
              <a:ext uri="{FF2B5EF4-FFF2-40B4-BE49-F238E27FC236}">
                <a16:creationId xmlns:a16="http://schemas.microsoft.com/office/drawing/2014/main" id="{28FD4F15-56FF-67FA-2835-7B877DF6D3F5}"/>
              </a:ext>
            </a:extLst>
          </p:cNvPr>
          <p:cNvSpPr txBox="1"/>
          <p:nvPr/>
        </p:nvSpPr>
        <p:spPr>
          <a:xfrm>
            <a:off x="584982" y="3687180"/>
            <a:ext cx="6098344" cy="923330"/>
          </a:xfrm>
          <a:prstGeom prst="rect">
            <a:avLst/>
          </a:prstGeom>
          <a:noFill/>
        </p:spPr>
        <p:txBody>
          <a:bodyPr wrap="square">
            <a:spAutoFit/>
          </a:bodyPr>
          <a:lstStyle/>
          <a:p>
            <a:r>
              <a:rPr lang="zh-CN" altLang="en-US" dirty="0"/>
              <a:t>聚类特点： 这种连接方式在最小距离（Single-Linkage）和最大距离（Complete-Linkage）之间取得平衡，产生比最小距离更紧凑、比最大距离更灵活的集群。</a:t>
            </a:r>
          </a:p>
        </p:txBody>
      </p:sp>
      <p:pic>
        <p:nvPicPr>
          <p:cNvPr id="9" name="图片 8">
            <a:extLst>
              <a:ext uri="{FF2B5EF4-FFF2-40B4-BE49-F238E27FC236}">
                <a16:creationId xmlns:a16="http://schemas.microsoft.com/office/drawing/2014/main" id="{1995993C-03F7-FC54-C786-70B9B0131233}"/>
              </a:ext>
            </a:extLst>
          </p:cNvPr>
          <p:cNvPicPr>
            <a:picLocks noChangeAspect="1"/>
          </p:cNvPicPr>
          <p:nvPr/>
        </p:nvPicPr>
        <p:blipFill>
          <a:blip r:embed="rId2"/>
          <a:stretch>
            <a:fillRect/>
          </a:stretch>
        </p:blipFill>
        <p:spPr>
          <a:xfrm>
            <a:off x="1964104" y="2318179"/>
            <a:ext cx="3340100" cy="749300"/>
          </a:xfrm>
          <a:prstGeom prst="rect">
            <a:avLst/>
          </a:prstGeom>
        </p:spPr>
      </p:pic>
      <p:pic>
        <p:nvPicPr>
          <p:cNvPr id="10" name="图片 9">
            <a:extLst>
              <a:ext uri="{FF2B5EF4-FFF2-40B4-BE49-F238E27FC236}">
                <a16:creationId xmlns:a16="http://schemas.microsoft.com/office/drawing/2014/main" id="{01F763FA-CE40-C25B-7558-4232A2BD7C7C}"/>
              </a:ext>
            </a:extLst>
          </p:cNvPr>
          <p:cNvPicPr>
            <a:picLocks noChangeAspect="1"/>
          </p:cNvPicPr>
          <p:nvPr/>
        </p:nvPicPr>
        <p:blipFill>
          <a:blip r:embed="rId3"/>
          <a:stretch>
            <a:fillRect/>
          </a:stretch>
        </p:blipFill>
        <p:spPr>
          <a:xfrm>
            <a:off x="6987136" y="1057034"/>
            <a:ext cx="4812450" cy="4020890"/>
          </a:xfrm>
          <a:prstGeom prst="rect">
            <a:avLst/>
          </a:prstGeom>
        </p:spPr>
      </p:pic>
    </p:spTree>
    <p:extLst>
      <p:ext uri="{BB962C8B-B14F-4D97-AF65-F5344CB8AC3E}">
        <p14:creationId xmlns:p14="http://schemas.microsoft.com/office/powerpoint/2010/main" val="2149511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AA7ACEC7-FB4B-E717-59F2-C54DBFE83A85}"/>
              </a:ext>
            </a:extLst>
          </p:cNvPr>
          <p:cNvPicPr>
            <a:picLocks noGrp="1" noChangeAspect="1"/>
          </p:cNvPicPr>
          <p:nvPr>
            <p:ph idx="1"/>
          </p:nvPr>
        </p:nvPicPr>
        <p:blipFill>
          <a:blip r:embed="rId2"/>
          <a:stretch>
            <a:fillRect/>
          </a:stretch>
        </p:blipFill>
        <p:spPr>
          <a:xfrm>
            <a:off x="838200" y="2146491"/>
            <a:ext cx="10515600" cy="3709606"/>
          </a:xfrm>
          <a:prstGeom prst="rect">
            <a:avLst/>
          </a:prstGeom>
        </p:spPr>
      </p:pic>
      <p:sp>
        <p:nvSpPr>
          <p:cNvPr id="6" name="标题 1">
            <a:extLst>
              <a:ext uri="{FF2B5EF4-FFF2-40B4-BE49-F238E27FC236}">
                <a16:creationId xmlns:a16="http://schemas.microsoft.com/office/drawing/2014/main" id="{96C05CA0-C08F-C788-E31A-ABE2FEE488D0}"/>
              </a:ext>
            </a:extLst>
          </p:cNvPr>
          <p:cNvSpPr>
            <a:spLocks noGrp="1"/>
          </p:cNvSpPr>
          <p:nvPr>
            <p:ph type="title"/>
          </p:nvPr>
        </p:nvSpPr>
        <p:spPr>
          <a:xfrm>
            <a:off x="838200" y="365125"/>
            <a:ext cx="10515600" cy="1325563"/>
          </a:xfrm>
        </p:spPr>
        <p:txBody>
          <a:bodyPr/>
          <a:lstStyle/>
          <a:p>
            <a:r>
              <a:rPr kumimoji="1" lang="zh-CN" altLang="en-US" dirty="0"/>
              <a:t>三种方法对比</a:t>
            </a:r>
          </a:p>
        </p:txBody>
      </p:sp>
    </p:spTree>
    <p:extLst>
      <p:ext uri="{BB962C8B-B14F-4D97-AF65-F5344CB8AC3E}">
        <p14:creationId xmlns:p14="http://schemas.microsoft.com/office/powerpoint/2010/main" val="902947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3A16D2-480A-6DE5-1F60-22537950A39A}"/>
              </a:ext>
            </a:extLst>
          </p:cNvPr>
          <p:cNvSpPr>
            <a:spLocks noGrp="1"/>
          </p:cNvSpPr>
          <p:nvPr>
            <p:ph type="title"/>
          </p:nvPr>
        </p:nvSpPr>
        <p:spPr/>
        <p:txBody>
          <a:bodyPr/>
          <a:lstStyle/>
          <a:p>
            <a:r>
              <a:rPr kumimoji="1" lang="zh-CN" altLang="en-US" dirty="0"/>
              <a:t>三种方法对比</a:t>
            </a:r>
          </a:p>
        </p:txBody>
      </p:sp>
      <p:pic>
        <p:nvPicPr>
          <p:cNvPr id="4" name="内容占位符 3">
            <a:extLst>
              <a:ext uri="{FF2B5EF4-FFF2-40B4-BE49-F238E27FC236}">
                <a16:creationId xmlns:a16="http://schemas.microsoft.com/office/drawing/2014/main" id="{8FC7BBD1-618C-2803-F3B9-6FAFD439F9B6}"/>
              </a:ext>
            </a:extLst>
          </p:cNvPr>
          <p:cNvPicPr>
            <a:picLocks noGrp="1" noChangeAspect="1"/>
          </p:cNvPicPr>
          <p:nvPr>
            <p:ph idx="1"/>
          </p:nvPr>
        </p:nvPicPr>
        <p:blipFill>
          <a:blip r:embed="rId2"/>
          <a:stretch>
            <a:fillRect/>
          </a:stretch>
        </p:blipFill>
        <p:spPr>
          <a:xfrm>
            <a:off x="1089849" y="1825625"/>
            <a:ext cx="10012302" cy="4351338"/>
          </a:xfrm>
          <a:prstGeom prst="rect">
            <a:avLst/>
          </a:prstGeom>
        </p:spPr>
      </p:pic>
    </p:spTree>
    <p:extLst>
      <p:ext uri="{BB962C8B-B14F-4D97-AF65-F5344CB8AC3E}">
        <p14:creationId xmlns:p14="http://schemas.microsoft.com/office/powerpoint/2010/main" val="143447599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1117</TotalTime>
  <Words>249</Words>
  <Application>Microsoft Macintosh PowerPoint</Application>
  <PresentationFormat>宽屏</PresentationFormat>
  <Paragraphs>10</Paragraphs>
  <Slides>6</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6</vt:i4>
      </vt:variant>
    </vt:vector>
  </HeadingPairs>
  <TitlesOfParts>
    <vt:vector size="10" baseType="lpstr">
      <vt:lpstr>等线</vt:lpstr>
      <vt:lpstr>等线 Light</vt:lpstr>
      <vt:lpstr>Arial</vt:lpstr>
      <vt:lpstr>Office 主题​​</vt:lpstr>
      <vt:lpstr>实验五-聚类分析</vt:lpstr>
      <vt:lpstr>PowerPoint 演示文稿</vt:lpstr>
      <vt:lpstr>PowerPoint 演示文稿</vt:lpstr>
      <vt:lpstr>PowerPoint 演示文稿</vt:lpstr>
      <vt:lpstr>三种方法对比</vt:lpstr>
      <vt:lpstr>三种方法对比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18</cp:revision>
  <dcterms:created xsi:type="dcterms:W3CDTF">2025-12-02T09:09:54Z</dcterms:created>
  <dcterms:modified xsi:type="dcterms:W3CDTF">2025-12-03T06:33:31Z</dcterms:modified>
</cp:coreProperties>
</file>